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8" d="100"/>
          <a:sy n="138" d="100"/>
        </p:scale>
        <p:origin x="18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1596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txBody>
          <a:bodyPr/>
          <a:lstStyle/>
          <a:p>
            <a:endParaRPr lang="en-US"/>
          </a:p>
        </p:txBody>
      </p:sp>
      <p:sp>
        <p:nvSpPr>
          <p:cNvPr id="3" name="Shape 1"/>
          <p:cNvSpPr/>
          <p:nvPr/>
        </p:nvSpPr>
        <p:spPr>
          <a:xfrm>
            <a:off x="548640" y="914400"/>
            <a:ext cx="54864" cy="2560320"/>
          </a:xfrm>
          <a:prstGeom prst="rect">
            <a:avLst/>
          </a:prstGeom>
          <a:solidFill>
            <a:srgbClr val="D4A843"/>
          </a:solidFill>
          <a:ln/>
        </p:spPr>
        <p:txBody>
          <a:bodyPr/>
          <a:lstStyle/>
          <a:p>
            <a:endParaRPr lang="en-US"/>
          </a:p>
        </p:txBody>
      </p:sp>
      <p:sp>
        <p:nvSpPr>
          <p:cNvPr id="4" name="Text 2"/>
          <p:cNvSpPr/>
          <p:nvPr/>
        </p:nvSpPr>
        <p:spPr>
          <a:xfrm>
            <a:off x="822960" y="822960"/>
            <a:ext cx="7315200" cy="1097280"/>
          </a:xfrm>
          <a:prstGeom prst="rect">
            <a:avLst/>
          </a:prstGeom>
          <a:noFill/>
          <a:ln/>
        </p:spPr>
        <p:txBody>
          <a:bodyPr wrap="square" lIns="0" tIns="0" rIns="0" bIns="0" rtlCol="0" anchor="ctr"/>
          <a:lstStyle/>
          <a:p>
            <a:pPr marL="0" indent="0">
              <a:buNone/>
            </a:pPr>
            <a:r>
              <a:rPr lang="en-US" sz="6000" b="1" kern="0" spc="800" dirty="0">
                <a:solidFill>
                  <a:srgbClr val="FFFFFF"/>
                </a:solidFill>
                <a:latin typeface="Trebuchet MS" pitchFamily="34" charset="0"/>
                <a:ea typeface="Trebuchet MS" pitchFamily="34" charset="-122"/>
                <a:cs typeface="Trebuchet MS" pitchFamily="34" charset="-120"/>
              </a:rPr>
              <a:t>FYM</a:t>
            </a:r>
            <a:endParaRPr lang="en-US" sz="6000" dirty="0"/>
          </a:p>
        </p:txBody>
      </p:sp>
      <p:sp>
        <p:nvSpPr>
          <p:cNvPr id="5" name="Text 3"/>
          <p:cNvSpPr/>
          <p:nvPr/>
        </p:nvSpPr>
        <p:spPr>
          <a:xfrm>
            <a:off x="822960" y="1554480"/>
            <a:ext cx="7315200" cy="731520"/>
          </a:xfrm>
          <a:prstGeom prst="rect">
            <a:avLst/>
          </a:prstGeom>
          <a:noFill/>
          <a:ln/>
        </p:spPr>
        <p:txBody>
          <a:bodyPr wrap="square" lIns="0" tIns="0" rIns="0" bIns="0" rtlCol="0" anchor="ctr"/>
          <a:lstStyle/>
          <a:p>
            <a:pPr marL="0" indent="0">
              <a:buNone/>
            </a:pPr>
            <a:r>
              <a:rPr lang="en-US" sz="3200" b="1" kern="0" spc="1200" dirty="0">
                <a:solidFill>
                  <a:srgbClr val="D4A843"/>
                </a:solidFill>
                <a:latin typeface="Trebuchet MS" pitchFamily="34" charset="0"/>
                <a:ea typeface="Trebuchet MS" pitchFamily="34" charset="-122"/>
                <a:cs typeface="Trebuchet MS" pitchFamily="34" charset="-120"/>
              </a:rPr>
              <a:t>FINANCIAL</a:t>
            </a:r>
            <a:endParaRPr lang="en-US" sz="3200" dirty="0"/>
          </a:p>
        </p:txBody>
      </p:sp>
      <p:sp>
        <p:nvSpPr>
          <p:cNvPr id="6" name="Text 4"/>
          <p:cNvSpPr/>
          <p:nvPr/>
        </p:nvSpPr>
        <p:spPr>
          <a:xfrm>
            <a:off x="822960" y="2468880"/>
            <a:ext cx="7315200" cy="548640"/>
          </a:xfrm>
          <a:prstGeom prst="rect">
            <a:avLst/>
          </a:prstGeom>
          <a:noFill/>
          <a:ln/>
        </p:spPr>
        <p:txBody>
          <a:bodyPr wrap="square" lIns="0" tIns="0" rIns="0" bIns="0" rtlCol="0" anchor="ctr"/>
          <a:lstStyle/>
          <a:p>
            <a:pPr marL="0" indent="0">
              <a:buNone/>
            </a:pPr>
            <a:r>
              <a:rPr lang="en-US" sz="2000" dirty="0">
                <a:solidFill>
                  <a:srgbClr val="94A3B8"/>
                </a:solidFill>
                <a:latin typeface="Calibri" pitchFamily="34" charset="0"/>
                <a:ea typeface="Calibri" pitchFamily="34" charset="-122"/>
                <a:cs typeface="Calibri" pitchFamily="34" charset="-120"/>
              </a:rPr>
              <a:t>Agency Partnership Overview</a:t>
            </a:r>
            <a:endParaRPr lang="en-US" sz="2000" dirty="0"/>
          </a:p>
        </p:txBody>
      </p:sp>
      <p:sp>
        <p:nvSpPr>
          <p:cNvPr id="7" name="Text 5"/>
          <p:cNvSpPr/>
          <p:nvPr/>
        </p:nvSpPr>
        <p:spPr>
          <a:xfrm>
            <a:off x="822960" y="3200400"/>
            <a:ext cx="731520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 #1 Specialized Protection-Product FMO</a:t>
            </a:r>
            <a:endParaRPr lang="en-US" sz="1300" dirty="0"/>
          </a:p>
        </p:txBody>
      </p:sp>
      <p:sp>
        <p:nvSpPr>
          <p:cNvPr id="8" name="Shape 6"/>
          <p:cNvSpPr/>
          <p:nvPr/>
        </p:nvSpPr>
        <p:spPr>
          <a:xfrm>
            <a:off x="548640" y="3931920"/>
            <a:ext cx="8046720" cy="640080"/>
          </a:xfrm>
          <a:prstGeom prst="rect">
            <a:avLst/>
          </a:prstGeom>
          <a:solidFill>
            <a:srgbClr val="131D33"/>
          </a:solidFill>
          <a:ln/>
        </p:spPr>
        <p:txBody>
          <a:bodyPr/>
          <a:lstStyle/>
          <a:p>
            <a:endParaRPr lang="en-US"/>
          </a:p>
        </p:txBody>
      </p:sp>
      <p:sp>
        <p:nvSpPr>
          <p:cNvPr id="9" name="Text 7"/>
          <p:cNvSpPr/>
          <p:nvPr/>
        </p:nvSpPr>
        <p:spPr>
          <a:xfrm>
            <a:off x="1097280" y="3959352"/>
            <a:ext cx="1371600" cy="320040"/>
          </a:xfrm>
          <a:prstGeom prst="rect">
            <a:avLst/>
          </a:prstGeom>
          <a:noFill/>
          <a:ln/>
        </p:spPr>
        <p:txBody>
          <a:bodyPr wrap="square" lIns="0" tIns="0" rIns="0" bIns="0" rtlCol="0" anchor="ctr"/>
          <a:lstStyle/>
          <a:p>
            <a:pPr marL="0" indent="0">
              <a:buNone/>
            </a:pPr>
            <a:r>
              <a:rPr lang="en-US" sz="2200" b="1" dirty="0">
                <a:solidFill>
                  <a:srgbClr val="D4A843"/>
                </a:solidFill>
                <a:latin typeface="Trebuchet MS" pitchFamily="34" charset="0"/>
                <a:ea typeface="Trebuchet MS" pitchFamily="34" charset="-122"/>
                <a:cs typeface="Trebuchet MS" pitchFamily="34" charset="-120"/>
              </a:rPr>
              <a:t>25+</a:t>
            </a:r>
            <a:endParaRPr lang="en-US" sz="2200" dirty="0"/>
          </a:p>
        </p:txBody>
      </p:sp>
      <p:sp>
        <p:nvSpPr>
          <p:cNvPr id="10" name="Text 8"/>
          <p:cNvSpPr/>
          <p:nvPr/>
        </p:nvSpPr>
        <p:spPr>
          <a:xfrm>
            <a:off x="2468880" y="4005072"/>
            <a:ext cx="1371600" cy="25603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FYM Partners</a:t>
            </a:r>
            <a:endParaRPr lang="en-US" sz="1000" dirty="0"/>
          </a:p>
        </p:txBody>
      </p:sp>
      <p:sp>
        <p:nvSpPr>
          <p:cNvPr id="11" name="Text 9"/>
          <p:cNvSpPr/>
          <p:nvPr/>
        </p:nvSpPr>
        <p:spPr>
          <a:xfrm>
            <a:off x="3840480" y="3959352"/>
            <a:ext cx="1371600" cy="320040"/>
          </a:xfrm>
          <a:prstGeom prst="rect">
            <a:avLst/>
          </a:prstGeom>
          <a:noFill/>
          <a:ln/>
        </p:spPr>
        <p:txBody>
          <a:bodyPr wrap="square" lIns="0" tIns="0" rIns="0" bIns="0" rtlCol="0" anchor="ctr"/>
          <a:lstStyle/>
          <a:p>
            <a:pPr marL="0" indent="0">
              <a:buNone/>
            </a:pPr>
            <a:r>
              <a:rPr lang="en-US" sz="2200" b="1" dirty="0">
                <a:solidFill>
                  <a:srgbClr val="D4A843"/>
                </a:solidFill>
                <a:latin typeface="Trebuchet MS" pitchFamily="34" charset="0"/>
                <a:ea typeface="Trebuchet MS" pitchFamily="34" charset="-122"/>
                <a:cs typeface="Trebuchet MS" pitchFamily="34" charset="-120"/>
              </a:rPr>
              <a:t>2M+</a:t>
            </a:r>
            <a:endParaRPr lang="en-US" sz="2200" dirty="0"/>
          </a:p>
        </p:txBody>
      </p:sp>
      <p:sp>
        <p:nvSpPr>
          <p:cNvPr id="12" name="Text 10"/>
          <p:cNvSpPr/>
          <p:nvPr/>
        </p:nvSpPr>
        <p:spPr>
          <a:xfrm>
            <a:off x="5212080" y="4005072"/>
            <a:ext cx="1371600" cy="25603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Medicare Apps</a:t>
            </a:r>
            <a:endParaRPr lang="en-US" sz="1000" dirty="0"/>
          </a:p>
        </p:txBody>
      </p:sp>
      <p:sp>
        <p:nvSpPr>
          <p:cNvPr id="13" name="Text 11"/>
          <p:cNvSpPr/>
          <p:nvPr/>
        </p:nvSpPr>
        <p:spPr>
          <a:xfrm>
            <a:off x="6583680" y="3959352"/>
            <a:ext cx="1371600" cy="320040"/>
          </a:xfrm>
          <a:prstGeom prst="rect">
            <a:avLst/>
          </a:prstGeom>
          <a:noFill/>
          <a:ln/>
        </p:spPr>
        <p:txBody>
          <a:bodyPr wrap="square" lIns="0" tIns="0" rIns="0" bIns="0" rtlCol="0" anchor="ctr"/>
          <a:lstStyle/>
          <a:p>
            <a:pPr marL="0" indent="0">
              <a:buNone/>
            </a:pPr>
            <a:r>
              <a:rPr lang="en-US" sz="2200" b="1" dirty="0">
                <a:solidFill>
                  <a:srgbClr val="D4A843"/>
                </a:solidFill>
                <a:latin typeface="Trebuchet MS" pitchFamily="34" charset="0"/>
                <a:ea typeface="Trebuchet MS" pitchFamily="34" charset="-122"/>
                <a:cs typeface="Trebuchet MS" pitchFamily="34" charset="-120"/>
              </a:rPr>
              <a:t>National</a:t>
            </a:r>
            <a:endParaRPr lang="en-US" sz="2200" dirty="0"/>
          </a:p>
        </p:txBody>
      </p:sp>
      <p:sp>
        <p:nvSpPr>
          <p:cNvPr id="14" name="Text 12"/>
          <p:cNvSpPr/>
          <p:nvPr/>
        </p:nvSpPr>
        <p:spPr>
          <a:xfrm>
            <a:off x="7955280" y="4005072"/>
            <a:ext cx="1371600" cy="25603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Footprint</a:t>
            </a:r>
            <a:endParaRPr lang="en-US" sz="1000" dirty="0"/>
          </a:p>
        </p:txBody>
      </p:sp>
      <p:sp>
        <p:nvSpPr>
          <p:cNvPr id="15" name="Shape 13"/>
          <p:cNvSpPr/>
          <p:nvPr/>
        </p:nvSpPr>
        <p:spPr>
          <a:xfrm>
            <a:off x="0" y="4892040"/>
            <a:ext cx="9144000" cy="256032"/>
          </a:xfrm>
          <a:prstGeom prst="rect">
            <a:avLst/>
          </a:prstGeom>
          <a:solidFill>
            <a:srgbClr val="080E1A"/>
          </a:solidFill>
          <a:ln/>
        </p:spPr>
        <p:txBody>
          <a:bodyPr/>
          <a:lstStyle/>
          <a:p>
            <a:endParaRPr lang="en-US"/>
          </a:p>
        </p:txBody>
      </p:sp>
      <p:sp>
        <p:nvSpPr>
          <p:cNvPr id="16" name="Text 14"/>
          <p:cNvSpPr/>
          <p:nvPr/>
        </p:nvSpPr>
        <p:spPr>
          <a:xfrm>
            <a:off x="548640" y="4910328"/>
            <a:ext cx="3657600" cy="201168"/>
          </a:xfrm>
          <a:prstGeom prst="rect">
            <a:avLst/>
          </a:prstGeom>
          <a:noFill/>
          <a:ln/>
        </p:spPr>
        <p:txBody>
          <a:bodyPr wrap="square" lIns="0" tIns="0" rIns="0" bIns="0" rtlCol="0" anchor="ctr"/>
          <a:lstStyle/>
          <a:p>
            <a:pPr marL="0" indent="0">
              <a:buNone/>
            </a:pPr>
            <a:r>
              <a:rPr lang="en-US" sz="700" kern="0" spc="200" dirty="0">
                <a:solidFill>
                  <a:srgbClr val="64748B"/>
                </a:solidFill>
                <a:latin typeface="Calibri" pitchFamily="34" charset="0"/>
                <a:ea typeface="Calibri" pitchFamily="34" charset="-122"/>
                <a:cs typeface="Calibri" pitchFamily="34" charset="-120"/>
              </a:rPr>
              <a:t>FYM FINANCIAL  |  CONFIDENTIAL</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EF4444"/>
          </a:solidFill>
          <a:ln/>
        </p:spPr>
        <p:txBody>
          <a:bodyPr/>
          <a:lstStyle/>
          <a:p>
            <a:endParaRPr lang="en-US"/>
          </a:p>
        </p:txBody>
      </p:sp>
      <p:sp>
        <p:nvSpPr>
          <p:cNvPr id="3" name="Text 1"/>
          <p:cNvSpPr/>
          <p:nvPr/>
        </p:nvSpPr>
        <p:spPr>
          <a:xfrm>
            <a:off x="548640" y="182880"/>
            <a:ext cx="5486400" cy="548640"/>
          </a:xfrm>
          <a:prstGeom prst="rect">
            <a:avLst/>
          </a:prstGeom>
          <a:noFill/>
          <a:ln/>
        </p:spPr>
        <p:txBody>
          <a:bodyPr wrap="square" lIns="0" tIns="0" rIns="0" bIns="0" rtlCol="0" anchor="ctr"/>
          <a:lstStyle/>
          <a:p>
            <a:pPr marL="0" indent="0">
              <a:buNone/>
            </a:pPr>
            <a:r>
              <a:rPr lang="en-US" sz="1100" b="1" kern="0" spc="400" dirty="0">
                <a:solidFill>
                  <a:srgbClr val="EF4444"/>
                </a:solidFill>
                <a:latin typeface="Calibri" pitchFamily="34" charset="0"/>
                <a:ea typeface="Calibri" pitchFamily="34" charset="-122"/>
                <a:cs typeface="Calibri" pitchFamily="34" charset="-120"/>
              </a:rPr>
              <a:t>THE OFF-SEASON PROBLEM</a:t>
            </a:r>
            <a:endParaRPr lang="en-US" sz="1100" dirty="0"/>
          </a:p>
        </p:txBody>
      </p:sp>
      <p:sp>
        <p:nvSpPr>
          <p:cNvPr id="4" name="Text 2"/>
          <p:cNvSpPr/>
          <p:nvPr/>
        </p:nvSpPr>
        <p:spPr>
          <a:xfrm>
            <a:off x="548640" y="502920"/>
            <a:ext cx="5486400" cy="10058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April – September:</a:t>
            </a:r>
            <a:endParaRPr lang="en-US" sz="2600" dirty="0"/>
          </a:p>
          <a:p>
            <a:pPr marL="0" indent="0">
              <a:buNone/>
            </a:pPr>
            <a:r>
              <a:rPr lang="en-US" sz="2600" b="1" dirty="0">
                <a:solidFill>
                  <a:srgbClr val="FFFFFF"/>
                </a:solidFill>
                <a:latin typeface="Trebuchet MS" pitchFamily="34" charset="0"/>
                <a:ea typeface="Trebuchet MS" pitchFamily="34" charset="-122"/>
                <a:cs typeface="Trebuchet MS" pitchFamily="34" charset="-120"/>
              </a:rPr>
              <a:t>Your Biggest Vulnerability</a:t>
            </a:r>
            <a:endParaRPr lang="en-US" sz="2600" dirty="0"/>
          </a:p>
        </p:txBody>
      </p:sp>
      <p:sp>
        <p:nvSpPr>
          <p:cNvPr id="5" name="Shape 3"/>
          <p:cNvSpPr/>
          <p:nvPr/>
        </p:nvSpPr>
        <p:spPr>
          <a:xfrm>
            <a:off x="548640" y="1691640"/>
            <a:ext cx="3886200" cy="118872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77240" y="1920240"/>
            <a:ext cx="365760" cy="365760"/>
          </a:xfrm>
          <a:prstGeom prst="rect">
            <a:avLst/>
          </a:prstGeom>
        </p:spPr>
      </p:pic>
      <p:sp>
        <p:nvSpPr>
          <p:cNvPr id="7" name="Text 4"/>
          <p:cNvSpPr/>
          <p:nvPr/>
        </p:nvSpPr>
        <p:spPr>
          <a:xfrm>
            <a:off x="1280160" y="1828800"/>
            <a:ext cx="29260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Agents Go Idle</a:t>
            </a:r>
            <a:endParaRPr lang="en-US" sz="1500" dirty="0"/>
          </a:p>
        </p:txBody>
      </p:sp>
      <p:sp>
        <p:nvSpPr>
          <p:cNvPr id="8" name="Text 5"/>
          <p:cNvSpPr/>
          <p:nvPr/>
        </p:nvSpPr>
        <p:spPr>
          <a:xfrm>
            <a:off x="1280160" y="2148840"/>
            <a:ext cx="2926080" cy="5943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6 months of reduced income. Your best producers leave for shops that keep them earning year-round.</a:t>
            </a:r>
            <a:endParaRPr lang="en-US" sz="1050" dirty="0"/>
          </a:p>
        </p:txBody>
      </p:sp>
      <p:sp>
        <p:nvSpPr>
          <p:cNvPr id="9" name="Shape 6"/>
          <p:cNvSpPr/>
          <p:nvPr/>
        </p:nvSpPr>
        <p:spPr>
          <a:xfrm>
            <a:off x="4754880" y="1691640"/>
            <a:ext cx="3886200" cy="118872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4983480" y="1920240"/>
            <a:ext cx="365760" cy="365760"/>
          </a:xfrm>
          <a:prstGeom prst="rect">
            <a:avLst/>
          </a:prstGeom>
        </p:spPr>
      </p:pic>
      <p:sp>
        <p:nvSpPr>
          <p:cNvPr id="11" name="Text 7"/>
          <p:cNvSpPr/>
          <p:nvPr/>
        </p:nvSpPr>
        <p:spPr>
          <a:xfrm>
            <a:off x="5486400" y="1828800"/>
            <a:ext cx="29260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Revenue Drops</a:t>
            </a:r>
            <a:endParaRPr lang="en-US" sz="1500" dirty="0"/>
          </a:p>
        </p:txBody>
      </p:sp>
      <p:sp>
        <p:nvSpPr>
          <p:cNvPr id="12" name="Text 8"/>
          <p:cNvSpPr/>
          <p:nvPr/>
        </p:nvSpPr>
        <p:spPr>
          <a:xfrm>
            <a:off x="5486400" y="2148840"/>
            <a:ext cx="2926080" cy="5943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Payroll, office costs, and lead investments don’t stop. Cash flow compresses while production stalls.</a:t>
            </a:r>
            <a:endParaRPr lang="en-US" sz="1050" dirty="0"/>
          </a:p>
        </p:txBody>
      </p:sp>
      <p:sp>
        <p:nvSpPr>
          <p:cNvPr id="13" name="Shape 9"/>
          <p:cNvSpPr/>
          <p:nvPr/>
        </p:nvSpPr>
        <p:spPr>
          <a:xfrm>
            <a:off x="548640" y="3108960"/>
            <a:ext cx="3886200" cy="118872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777240" y="3337560"/>
            <a:ext cx="365760" cy="365760"/>
          </a:xfrm>
          <a:prstGeom prst="rect">
            <a:avLst/>
          </a:prstGeom>
        </p:spPr>
      </p:pic>
      <p:sp>
        <p:nvSpPr>
          <p:cNvPr id="15" name="Text 10"/>
          <p:cNvSpPr/>
          <p:nvPr/>
        </p:nvSpPr>
        <p:spPr>
          <a:xfrm>
            <a:off x="1280160" y="3246120"/>
            <a:ext cx="29260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SEP Pressure Builds</a:t>
            </a:r>
            <a:endParaRPr lang="en-US" sz="1500" dirty="0"/>
          </a:p>
        </p:txBody>
      </p:sp>
      <p:sp>
        <p:nvSpPr>
          <p:cNvPr id="16" name="Text 11"/>
          <p:cNvSpPr/>
          <p:nvPr/>
        </p:nvSpPr>
        <p:spPr>
          <a:xfrm>
            <a:off x="1280160" y="3566160"/>
            <a:ext cx="2926080" cy="5943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Desperate agents push off-season MAPD using questionable SEPs. CTM complaints follow.</a:t>
            </a:r>
            <a:endParaRPr lang="en-US" sz="1050" dirty="0"/>
          </a:p>
        </p:txBody>
      </p:sp>
      <p:sp>
        <p:nvSpPr>
          <p:cNvPr id="17" name="Shape 12"/>
          <p:cNvSpPr/>
          <p:nvPr/>
        </p:nvSpPr>
        <p:spPr>
          <a:xfrm>
            <a:off x="4754880" y="3108960"/>
            <a:ext cx="3886200" cy="118872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pic>
        <p:nvPicPr>
          <p:cNvPr id="18" name="Image 3" descr="preencoded.png"/>
          <p:cNvPicPr>
            <a:picLocks noChangeAspect="1"/>
          </p:cNvPicPr>
          <p:nvPr/>
        </p:nvPicPr>
        <p:blipFill>
          <a:blip r:embed="rId6"/>
          <a:stretch>
            <a:fillRect/>
          </a:stretch>
        </p:blipFill>
        <p:spPr>
          <a:xfrm>
            <a:off x="4983480" y="3337560"/>
            <a:ext cx="365760" cy="365760"/>
          </a:xfrm>
          <a:prstGeom prst="rect">
            <a:avLst/>
          </a:prstGeom>
        </p:spPr>
      </p:pic>
      <p:sp>
        <p:nvSpPr>
          <p:cNvPr id="19" name="Text 13"/>
          <p:cNvSpPr/>
          <p:nvPr/>
        </p:nvSpPr>
        <p:spPr>
          <a:xfrm>
            <a:off x="5486400" y="3246120"/>
            <a:ext cx="29260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Carrier Risk Grows</a:t>
            </a:r>
            <a:endParaRPr lang="en-US" sz="1500" dirty="0"/>
          </a:p>
        </p:txBody>
      </p:sp>
      <p:sp>
        <p:nvSpPr>
          <p:cNvPr id="20" name="Text 14"/>
          <p:cNvSpPr/>
          <p:nvPr/>
        </p:nvSpPr>
        <p:spPr>
          <a:xfrm>
            <a:off x="5486400" y="3566160"/>
            <a:ext cx="2926080" cy="5943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CTM filings hit Stars ratings. Your carrier relationships and agency reputation take damage.</a:t>
            </a:r>
            <a:endParaRPr lang="en-US" sz="1050" dirty="0"/>
          </a:p>
        </p:txBody>
      </p:sp>
      <p:sp>
        <p:nvSpPr>
          <p:cNvPr id="21" name="Shape 15"/>
          <p:cNvSpPr/>
          <p:nvPr/>
        </p:nvSpPr>
        <p:spPr>
          <a:xfrm>
            <a:off x="0" y="4892040"/>
            <a:ext cx="9144000" cy="256032"/>
          </a:xfrm>
          <a:prstGeom prst="rect">
            <a:avLst/>
          </a:prstGeom>
          <a:solidFill>
            <a:srgbClr val="080E1A"/>
          </a:solidFill>
          <a:ln/>
        </p:spPr>
        <p:txBody>
          <a:bodyPr/>
          <a:lstStyle/>
          <a:p>
            <a:endParaRPr lang="en-US"/>
          </a:p>
        </p:txBody>
      </p:sp>
      <p:sp>
        <p:nvSpPr>
          <p:cNvPr id="22" name="Text 16"/>
          <p:cNvSpPr/>
          <p:nvPr/>
        </p:nvSpPr>
        <p:spPr>
          <a:xfrm>
            <a:off x="548640" y="4910328"/>
            <a:ext cx="3657600" cy="201168"/>
          </a:xfrm>
          <a:prstGeom prst="rect">
            <a:avLst/>
          </a:prstGeom>
          <a:noFill/>
          <a:ln/>
        </p:spPr>
        <p:txBody>
          <a:bodyPr wrap="square" lIns="0" tIns="0" rIns="0" bIns="0" rtlCol="0" anchor="ctr"/>
          <a:lstStyle/>
          <a:p>
            <a:pPr marL="0" indent="0">
              <a:buNone/>
            </a:pPr>
            <a:r>
              <a:rPr lang="en-US" sz="700" kern="0" spc="200" dirty="0">
                <a:solidFill>
                  <a:srgbClr val="64748B"/>
                </a:solidFill>
                <a:latin typeface="Calibri" pitchFamily="34" charset="0"/>
                <a:ea typeface="Calibri" pitchFamily="34" charset="-122"/>
                <a:cs typeface="Calibri" pitchFamily="34" charset="-120"/>
              </a:rPr>
              <a:t>FYM FINANCIAL  |  CONFIDENTIAL</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14B8A6"/>
          </a:solidFill>
          <a:ln/>
        </p:spPr>
        <p:txBody>
          <a:bodyPr/>
          <a:lstStyle/>
          <a:p>
            <a:endParaRPr lang="en-US"/>
          </a:p>
        </p:txBody>
      </p:sp>
      <p:sp>
        <p:nvSpPr>
          <p:cNvPr id="3" name="Text 1"/>
          <p:cNvSpPr/>
          <p:nvPr/>
        </p:nvSpPr>
        <p:spPr>
          <a:xfrm>
            <a:off x="548640" y="228600"/>
            <a:ext cx="5486400" cy="457200"/>
          </a:xfrm>
          <a:prstGeom prst="rect">
            <a:avLst/>
          </a:prstGeom>
          <a:noFill/>
          <a:ln/>
        </p:spPr>
        <p:txBody>
          <a:bodyPr wrap="square" lIns="0" tIns="0" rIns="0" bIns="0" rtlCol="0" anchor="ctr"/>
          <a:lstStyle/>
          <a:p>
            <a:pPr marL="0" indent="0">
              <a:buNone/>
            </a:pPr>
            <a:r>
              <a:rPr lang="en-US" sz="1100" b="1" kern="0" spc="400" dirty="0">
                <a:solidFill>
                  <a:srgbClr val="14B8A6"/>
                </a:solidFill>
                <a:latin typeface="Calibri" pitchFamily="34" charset="0"/>
                <a:ea typeface="Calibri" pitchFamily="34" charset="-122"/>
                <a:cs typeface="Calibri" pitchFamily="34" charset="-120"/>
              </a:rPr>
              <a:t>THE FYM SOLUTION</a:t>
            </a:r>
            <a:endParaRPr lang="en-US" sz="1100" dirty="0"/>
          </a:p>
        </p:txBody>
      </p:sp>
      <p:sp>
        <p:nvSpPr>
          <p:cNvPr id="4" name="Text 2"/>
          <p:cNvSpPr/>
          <p:nvPr/>
        </p:nvSpPr>
        <p:spPr>
          <a:xfrm>
            <a:off x="548640" y="594360"/>
            <a:ext cx="82296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Compliant, Cash-Flow-Positive</a:t>
            </a:r>
            <a:endParaRPr lang="en-US" sz="3000" dirty="0"/>
          </a:p>
          <a:p>
            <a:pPr marL="0" indent="0">
              <a:buNone/>
            </a:pPr>
            <a:r>
              <a:rPr lang="en-US" sz="3000" b="1" dirty="0">
                <a:solidFill>
                  <a:srgbClr val="FFFFFF"/>
                </a:solidFill>
                <a:latin typeface="Trebuchet MS" pitchFamily="34" charset="0"/>
                <a:ea typeface="Trebuchet MS" pitchFamily="34" charset="-122"/>
                <a:cs typeface="Trebuchet MS" pitchFamily="34" charset="-120"/>
              </a:rPr>
              <a:t>Revenue From Day One</a:t>
            </a:r>
            <a:endParaRPr lang="en-US" sz="3000" dirty="0"/>
          </a:p>
        </p:txBody>
      </p:sp>
      <p:sp>
        <p:nvSpPr>
          <p:cNvPr id="5" name="Text 3"/>
          <p:cNvSpPr/>
          <p:nvPr/>
        </p:nvSpPr>
        <p:spPr>
          <a:xfrm>
            <a:off x="548640" y="1463040"/>
            <a:ext cx="8046720" cy="45720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FYM gives your agency a structured system to sell Hospital Indemnity and Recovery Protection during the off-season. Your agents stay productive, your revenue stays positive, and your Medicare relationships stay clean.</a:t>
            </a:r>
            <a:endParaRPr lang="en-US" sz="1200" dirty="0"/>
          </a:p>
        </p:txBody>
      </p:sp>
      <p:sp>
        <p:nvSpPr>
          <p:cNvPr id="6" name="Shape 4"/>
          <p:cNvSpPr/>
          <p:nvPr/>
        </p:nvSpPr>
        <p:spPr>
          <a:xfrm>
            <a:off x="548640" y="2194560"/>
            <a:ext cx="2606040" cy="237744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7" name="Shape 5"/>
          <p:cNvSpPr/>
          <p:nvPr/>
        </p:nvSpPr>
        <p:spPr>
          <a:xfrm>
            <a:off x="548640" y="2194560"/>
            <a:ext cx="2606040" cy="45720"/>
          </a:xfrm>
          <a:prstGeom prst="rect">
            <a:avLst/>
          </a:prstGeom>
          <a:solidFill>
            <a:srgbClr val="14B8A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554480" y="2377440"/>
            <a:ext cx="502920" cy="502920"/>
          </a:xfrm>
          <a:prstGeom prst="rect">
            <a:avLst/>
          </a:prstGeom>
        </p:spPr>
      </p:pic>
      <p:sp>
        <p:nvSpPr>
          <p:cNvPr id="9" name="Text 6"/>
          <p:cNvSpPr/>
          <p:nvPr/>
        </p:nvSpPr>
        <p:spPr>
          <a:xfrm>
            <a:off x="548640" y="2971800"/>
            <a:ext cx="2606040" cy="274320"/>
          </a:xfrm>
          <a:prstGeom prst="rect">
            <a:avLst/>
          </a:prstGeom>
          <a:noFill/>
          <a:ln/>
        </p:spPr>
        <p:txBody>
          <a:bodyPr wrap="square" lIns="0" tIns="0" rIns="0" bIns="0" rtlCol="0" anchor="ctr"/>
          <a:lstStyle/>
          <a:p>
            <a:pPr marL="0" indent="0" algn="ctr">
              <a:buNone/>
            </a:pPr>
            <a:r>
              <a:rPr lang="en-US" sz="1000" b="1" kern="0" spc="300" dirty="0">
                <a:solidFill>
                  <a:srgbClr val="14B8A6"/>
                </a:solidFill>
                <a:latin typeface="Calibri" pitchFamily="34" charset="0"/>
                <a:ea typeface="Calibri" pitchFamily="34" charset="-122"/>
                <a:cs typeface="Calibri" pitchFamily="34" charset="-120"/>
              </a:rPr>
              <a:t>APRIL – SEPT</a:t>
            </a:r>
            <a:endParaRPr lang="en-US" sz="1000" dirty="0"/>
          </a:p>
        </p:txBody>
      </p:sp>
      <p:sp>
        <p:nvSpPr>
          <p:cNvPr id="10" name="Text 7"/>
          <p:cNvSpPr/>
          <p:nvPr/>
        </p:nvSpPr>
        <p:spPr>
          <a:xfrm>
            <a:off x="548640" y="3246120"/>
            <a:ext cx="260604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Lead with Protection</a:t>
            </a:r>
            <a:endParaRPr lang="en-US" sz="1400" dirty="0"/>
          </a:p>
        </p:txBody>
      </p:sp>
      <p:sp>
        <p:nvSpPr>
          <p:cNvPr id="11" name="Text 8"/>
          <p:cNvSpPr/>
          <p:nvPr/>
        </p:nvSpPr>
        <p:spPr>
          <a:xfrm>
            <a:off x="777240" y="3566160"/>
            <a:ext cx="2148840" cy="8229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HIP and Recovery products are the primary sale. Agents earn without touching Medicare.</a:t>
            </a:r>
            <a:endParaRPr lang="en-US" sz="1050" dirty="0"/>
          </a:p>
        </p:txBody>
      </p:sp>
      <p:sp>
        <p:nvSpPr>
          <p:cNvPr id="12" name="Shape 9"/>
          <p:cNvSpPr/>
          <p:nvPr/>
        </p:nvSpPr>
        <p:spPr>
          <a:xfrm>
            <a:off x="3429000" y="2194560"/>
            <a:ext cx="2606040" cy="237744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13" name="Shape 10"/>
          <p:cNvSpPr/>
          <p:nvPr/>
        </p:nvSpPr>
        <p:spPr>
          <a:xfrm>
            <a:off x="3429000" y="2194560"/>
            <a:ext cx="2606040" cy="45720"/>
          </a:xfrm>
          <a:prstGeom prst="rect">
            <a:avLst/>
          </a:prstGeom>
          <a:solidFill>
            <a:srgbClr val="3B82F6"/>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434840" y="2377440"/>
            <a:ext cx="502920" cy="502920"/>
          </a:xfrm>
          <a:prstGeom prst="rect">
            <a:avLst/>
          </a:prstGeom>
        </p:spPr>
      </p:pic>
      <p:sp>
        <p:nvSpPr>
          <p:cNvPr id="15" name="Text 11"/>
          <p:cNvSpPr/>
          <p:nvPr/>
        </p:nvSpPr>
        <p:spPr>
          <a:xfrm>
            <a:off x="3429000" y="2971800"/>
            <a:ext cx="2606040" cy="274320"/>
          </a:xfrm>
          <a:prstGeom prst="rect">
            <a:avLst/>
          </a:prstGeom>
          <a:noFill/>
          <a:ln/>
        </p:spPr>
        <p:txBody>
          <a:bodyPr wrap="square" lIns="0" tIns="0" rIns="0" bIns="0" rtlCol="0" anchor="ctr"/>
          <a:lstStyle/>
          <a:p>
            <a:pPr marL="0" indent="0" algn="ctr">
              <a:buNone/>
            </a:pPr>
            <a:r>
              <a:rPr lang="en-US" sz="1000" b="1" kern="0" spc="300" dirty="0">
                <a:solidFill>
                  <a:srgbClr val="3B82F6"/>
                </a:solidFill>
                <a:latin typeface="Calibri" pitchFamily="34" charset="0"/>
                <a:ea typeface="Calibri" pitchFamily="34" charset="-122"/>
                <a:cs typeface="Calibri" pitchFamily="34" charset="-120"/>
              </a:rPr>
              <a:t>OCT – MARCH</a:t>
            </a:r>
            <a:endParaRPr lang="en-US" sz="1000" dirty="0"/>
          </a:p>
        </p:txBody>
      </p:sp>
      <p:sp>
        <p:nvSpPr>
          <p:cNvPr id="16" name="Text 12"/>
          <p:cNvSpPr/>
          <p:nvPr/>
        </p:nvSpPr>
        <p:spPr>
          <a:xfrm>
            <a:off x="3429000" y="3246120"/>
            <a:ext cx="260604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Lead with MAPD</a:t>
            </a:r>
            <a:endParaRPr lang="en-US" sz="1400" dirty="0"/>
          </a:p>
        </p:txBody>
      </p:sp>
      <p:sp>
        <p:nvSpPr>
          <p:cNvPr id="17" name="Text 13"/>
          <p:cNvSpPr/>
          <p:nvPr/>
        </p:nvSpPr>
        <p:spPr>
          <a:xfrm>
            <a:off x="3657600" y="3566160"/>
            <a:ext cx="2148840" cy="8229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AEP/OEP business as usual. Cross-sell protection after enrollment.</a:t>
            </a:r>
            <a:endParaRPr lang="en-US" sz="1050" dirty="0"/>
          </a:p>
        </p:txBody>
      </p:sp>
      <p:sp>
        <p:nvSpPr>
          <p:cNvPr id="18" name="Shape 14"/>
          <p:cNvSpPr/>
          <p:nvPr/>
        </p:nvSpPr>
        <p:spPr>
          <a:xfrm>
            <a:off x="6309360" y="2194560"/>
            <a:ext cx="2606040" cy="237744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19" name="Shape 15"/>
          <p:cNvSpPr/>
          <p:nvPr/>
        </p:nvSpPr>
        <p:spPr>
          <a:xfrm>
            <a:off x="6309360" y="2194560"/>
            <a:ext cx="2606040" cy="45720"/>
          </a:xfrm>
          <a:prstGeom prst="rect">
            <a:avLst/>
          </a:prstGeom>
          <a:solidFill>
            <a:srgbClr val="D4A843"/>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7315200" y="2377440"/>
            <a:ext cx="502920" cy="502920"/>
          </a:xfrm>
          <a:prstGeom prst="rect">
            <a:avLst/>
          </a:prstGeom>
        </p:spPr>
      </p:pic>
      <p:sp>
        <p:nvSpPr>
          <p:cNvPr id="21" name="Text 16"/>
          <p:cNvSpPr/>
          <p:nvPr/>
        </p:nvSpPr>
        <p:spPr>
          <a:xfrm>
            <a:off x="6309360" y="2971800"/>
            <a:ext cx="2606040" cy="274320"/>
          </a:xfrm>
          <a:prstGeom prst="rect">
            <a:avLst/>
          </a:prstGeom>
          <a:noFill/>
          <a:ln/>
        </p:spPr>
        <p:txBody>
          <a:bodyPr wrap="square" lIns="0" tIns="0" rIns="0" bIns="0" rtlCol="0" anchor="ctr"/>
          <a:lstStyle/>
          <a:p>
            <a:pPr marL="0" indent="0" algn="ctr">
              <a:buNone/>
            </a:pPr>
            <a:r>
              <a:rPr lang="en-US" sz="1000" b="1" kern="0" spc="300" dirty="0">
                <a:solidFill>
                  <a:srgbClr val="D4A843"/>
                </a:solidFill>
                <a:latin typeface="Calibri" pitchFamily="34" charset="0"/>
                <a:ea typeface="Calibri" pitchFamily="34" charset="-122"/>
                <a:cs typeface="Calibri" pitchFamily="34" charset="-120"/>
              </a:rPr>
              <a:t>YEAR-ROUND</a:t>
            </a:r>
            <a:endParaRPr lang="en-US" sz="1000" dirty="0"/>
          </a:p>
        </p:txBody>
      </p:sp>
      <p:sp>
        <p:nvSpPr>
          <p:cNvPr id="22" name="Text 17"/>
          <p:cNvSpPr/>
          <p:nvPr/>
        </p:nvSpPr>
        <p:spPr>
          <a:xfrm>
            <a:off x="6309360" y="3246120"/>
            <a:ext cx="260604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Levelized Renewals</a:t>
            </a:r>
            <a:endParaRPr lang="en-US" sz="1400" dirty="0"/>
          </a:p>
        </p:txBody>
      </p:sp>
      <p:sp>
        <p:nvSpPr>
          <p:cNvPr id="23" name="Text 18"/>
          <p:cNvSpPr/>
          <p:nvPr/>
        </p:nvSpPr>
        <p:spPr>
          <a:xfrm>
            <a:off x="6537960" y="3566160"/>
            <a:ext cx="2148840" cy="8229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Every placed policy generates levelized renewal cash flow years 2–10, building real equity in your agency.</a:t>
            </a:r>
            <a:endParaRPr lang="en-US" sz="1050" dirty="0"/>
          </a:p>
        </p:txBody>
      </p:sp>
      <p:sp>
        <p:nvSpPr>
          <p:cNvPr id="24" name="Shape 19"/>
          <p:cNvSpPr/>
          <p:nvPr/>
        </p:nvSpPr>
        <p:spPr>
          <a:xfrm>
            <a:off x="0" y="4892040"/>
            <a:ext cx="9144000" cy="256032"/>
          </a:xfrm>
          <a:prstGeom prst="rect">
            <a:avLst/>
          </a:prstGeom>
          <a:solidFill>
            <a:srgbClr val="080E1A"/>
          </a:solidFill>
          <a:ln/>
        </p:spPr>
        <p:txBody>
          <a:bodyPr/>
          <a:lstStyle/>
          <a:p>
            <a:endParaRPr lang="en-US"/>
          </a:p>
        </p:txBody>
      </p:sp>
      <p:sp>
        <p:nvSpPr>
          <p:cNvPr id="25" name="Text 20"/>
          <p:cNvSpPr/>
          <p:nvPr/>
        </p:nvSpPr>
        <p:spPr>
          <a:xfrm>
            <a:off x="548640" y="4910328"/>
            <a:ext cx="3657600" cy="201168"/>
          </a:xfrm>
          <a:prstGeom prst="rect">
            <a:avLst/>
          </a:prstGeom>
          <a:noFill/>
          <a:ln/>
        </p:spPr>
        <p:txBody>
          <a:bodyPr wrap="square" lIns="0" tIns="0" rIns="0" bIns="0" rtlCol="0" anchor="ctr"/>
          <a:lstStyle/>
          <a:p>
            <a:pPr marL="0" indent="0">
              <a:buNone/>
            </a:pPr>
            <a:r>
              <a:rPr lang="en-US" sz="700" kern="0" spc="200" dirty="0">
                <a:solidFill>
                  <a:srgbClr val="64748B"/>
                </a:solidFill>
                <a:latin typeface="Calibri" pitchFamily="34" charset="0"/>
                <a:ea typeface="Calibri" pitchFamily="34" charset="-122"/>
                <a:cs typeface="Calibri" pitchFamily="34" charset="-120"/>
              </a:rPr>
              <a:t>FYM FINANCIAL  |  CONFIDENTIAL</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txBody>
          <a:bodyPr/>
          <a:lstStyle/>
          <a:p>
            <a:endParaRPr lang="en-US"/>
          </a:p>
        </p:txBody>
      </p:sp>
      <p:sp>
        <p:nvSpPr>
          <p:cNvPr id="3" name="Text 1"/>
          <p:cNvSpPr/>
          <p:nvPr/>
        </p:nvSpPr>
        <p:spPr>
          <a:xfrm>
            <a:off x="548640" y="228600"/>
            <a:ext cx="5486400" cy="457200"/>
          </a:xfrm>
          <a:prstGeom prst="rect">
            <a:avLst/>
          </a:prstGeom>
          <a:noFill/>
          <a:ln/>
        </p:spPr>
        <p:txBody>
          <a:bodyPr wrap="square" lIns="0" tIns="0" rIns="0" bIns="0" rtlCol="0" anchor="ctr"/>
          <a:lstStyle/>
          <a:p>
            <a:pPr marL="0" indent="0">
              <a:buNone/>
            </a:pPr>
            <a:r>
              <a:rPr lang="en-US" sz="1100" b="1" kern="0" spc="400" dirty="0">
                <a:solidFill>
                  <a:srgbClr val="D4A843"/>
                </a:solidFill>
                <a:latin typeface="Calibri" pitchFamily="34" charset="0"/>
                <a:ea typeface="Calibri" pitchFamily="34" charset="-122"/>
                <a:cs typeface="Calibri" pitchFamily="34" charset="-120"/>
              </a:rPr>
              <a:t>THE FYM ADVANTAGE</a:t>
            </a:r>
            <a:endParaRPr lang="en-US" sz="1100" dirty="0"/>
          </a:p>
        </p:txBody>
      </p:sp>
      <p:sp>
        <p:nvSpPr>
          <p:cNvPr id="4" name="Text 2"/>
          <p:cNvSpPr/>
          <p:nvPr/>
        </p:nvSpPr>
        <p:spPr>
          <a:xfrm>
            <a:off x="548640" y="594360"/>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Going Direct vs. Through FYM</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4077441888"/>
              </p:ext>
            </p:extLst>
          </p:nvPr>
        </p:nvGraphicFramePr>
        <p:xfrm>
          <a:off x="548640" y="1280160"/>
          <a:ext cx="8046720" cy="2438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0">
                <a:tc>
                  <a:txBody>
                    <a:bodyPr/>
                    <a:lstStyle/>
                    <a:p>
                      <a:pPr marL="0" indent="0">
                        <a:buNone/>
                      </a:pP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2744"/>
                    </a:solidFill>
                  </a:tcPr>
                </a:tc>
                <a:tc>
                  <a:txBody>
                    <a:bodyPr/>
                    <a:lstStyle/>
                    <a:p>
                      <a:pPr marL="0" indent="0" algn="ctr">
                        <a:buNone/>
                      </a:pPr>
                      <a:r>
                        <a:rPr lang="en-US" sz="1000" b="1" dirty="0">
                          <a:solidFill>
                            <a:srgbClr val="94A3B8"/>
                          </a:solidFill>
                          <a:latin typeface="Calibri" pitchFamily="34" charset="0"/>
                          <a:ea typeface="Calibri" pitchFamily="34" charset="-122"/>
                          <a:cs typeface="Calibri" pitchFamily="34" charset="-120"/>
                        </a:rPr>
                        <a:t>GOING DIRECT</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2744"/>
                    </a:solidFill>
                  </a:tcPr>
                </a:tc>
                <a:tc>
                  <a:txBody>
                    <a:bodyPr/>
                    <a:lstStyle/>
                    <a:p>
                      <a:pPr marL="0" indent="0" algn="ctr">
                        <a:buNone/>
                      </a:pPr>
                      <a:r>
                        <a:rPr lang="en-US" sz="1000" b="1" dirty="0">
                          <a:solidFill>
                            <a:srgbClr val="14B8A6"/>
                          </a:solidFill>
                          <a:latin typeface="Calibri" pitchFamily="34" charset="0"/>
                          <a:ea typeface="Calibri" pitchFamily="34" charset="-122"/>
                          <a:cs typeface="Calibri" pitchFamily="34" charset="-120"/>
                        </a:rPr>
                        <a:t>THROUGH FYM</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3A2A"/>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D4A843"/>
                          </a:solidFill>
                          <a:latin typeface="Calibri" pitchFamily="34" charset="0"/>
                          <a:ea typeface="Calibri" pitchFamily="34" charset="-122"/>
                          <a:cs typeface="Calibri" pitchFamily="34" charset="-120"/>
                        </a:rPr>
                        <a:t>Contract Level</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31D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Standard — most agencies cannot qualify for top tier</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31D33"/>
                    </a:solidFill>
                  </a:tcPr>
                </a:tc>
                <a:tc>
                  <a:txBody>
                    <a:bodyPr/>
                    <a:lstStyle/>
                    <a:p>
                      <a:pPr marL="0" indent="0">
                        <a:buNone/>
                      </a:pPr>
                      <a:r>
                        <a:rPr lang="en-US" sz="1000" b="1" dirty="0">
                          <a:solidFill>
                            <a:srgbClr val="14B8A6"/>
                          </a:solidFill>
                          <a:latin typeface="Calibri" pitchFamily="34" charset="0"/>
                          <a:ea typeface="Calibri" pitchFamily="34" charset="-122"/>
                          <a:cs typeface="Calibri" pitchFamily="34" charset="-120"/>
                        </a:rPr>
                        <a:t>Top-tier contract level regardless of your current volume</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31D33"/>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D4A843"/>
                          </a:solidFill>
                          <a:latin typeface="Calibri" pitchFamily="34" charset="0"/>
                          <a:ea typeface="Calibri" pitchFamily="34" charset="-122"/>
                          <a:cs typeface="Calibri" pitchFamily="34" charset="-120"/>
                        </a:rPr>
                        <a:t>Advance</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2744"/>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3-month advance</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2744"/>
                    </a:solidFill>
                  </a:tcPr>
                </a:tc>
                <a:tc>
                  <a:txBody>
                    <a:bodyPr/>
                    <a:lstStyle/>
                    <a:p>
                      <a:pPr marL="0" indent="0">
                        <a:buNone/>
                      </a:pPr>
                      <a:r>
                        <a:rPr lang="en-US" sz="1000" b="1" dirty="0">
                          <a:solidFill>
                            <a:srgbClr val="14B8A6"/>
                          </a:solidFill>
                          <a:latin typeface="Calibri" pitchFamily="34" charset="0"/>
                          <a:ea typeface="Calibri" pitchFamily="34" charset="-122"/>
                          <a:cs typeface="Calibri" pitchFamily="34" charset="-120"/>
                        </a:rPr>
                        <a:t>9-month on draft; 12-month </a:t>
                      </a:r>
                      <a:r>
                        <a:rPr lang="en-US" sz="1000" b="1">
                          <a:solidFill>
                            <a:srgbClr val="14B8A6"/>
                          </a:solidFill>
                          <a:latin typeface="Calibri" pitchFamily="34" charset="0"/>
                          <a:ea typeface="Calibri" pitchFamily="34" charset="-122"/>
                          <a:cs typeface="Calibri" pitchFamily="34" charset="-120"/>
                        </a:rPr>
                        <a:t>on draft </a:t>
                      </a:r>
                      <a:r>
                        <a:rPr lang="en-US" sz="1000" b="1" dirty="0">
                          <a:solidFill>
                            <a:srgbClr val="14B8A6"/>
                          </a:solidFill>
                          <a:latin typeface="Calibri" pitchFamily="34" charset="0"/>
                          <a:ea typeface="Calibri" pitchFamily="34" charset="-122"/>
                          <a:cs typeface="Calibri" pitchFamily="34" charset="-120"/>
                        </a:rPr>
                        <a:t>(earned)</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2744"/>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D4A843"/>
                          </a:solidFill>
                          <a:latin typeface="Calibri" pitchFamily="34" charset="0"/>
                          <a:ea typeface="Calibri" pitchFamily="34" charset="-122"/>
                          <a:cs typeface="Calibri" pitchFamily="34" charset="-120"/>
                        </a:rPr>
                        <a:t>Carrier Pay</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31D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Direct</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31D33"/>
                    </a:solidFill>
                  </a:tcPr>
                </a:tc>
                <a:tc>
                  <a:txBody>
                    <a:bodyPr/>
                    <a:lstStyle/>
                    <a:p>
                      <a:pPr marL="0" indent="0">
                        <a:buNone/>
                      </a:pPr>
                      <a:r>
                        <a:rPr lang="en-US" sz="1000" b="1" dirty="0">
                          <a:solidFill>
                            <a:srgbClr val="14B8A6"/>
                          </a:solidFill>
                          <a:latin typeface="Calibri" pitchFamily="34" charset="0"/>
                          <a:ea typeface="Calibri" pitchFamily="34" charset="-122"/>
                          <a:cs typeface="Calibri" pitchFamily="34" charset="-120"/>
                        </a:rPr>
                        <a:t>Direct — same as going direct, no intermediary risk</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31D33"/>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D4A843"/>
                          </a:solidFill>
                          <a:latin typeface="Calibri" pitchFamily="34" charset="0"/>
                          <a:ea typeface="Calibri" pitchFamily="34" charset="-122"/>
                          <a:cs typeface="Calibri" pitchFamily="34" charset="-120"/>
                        </a:rPr>
                        <a:t>Training &amp; Support</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2744"/>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Carrier materials only</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2744"/>
                    </a:solidFill>
                  </a:tcPr>
                </a:tc>
                <a:tc>
                  <a:txBody>
                    <a:bodyPr/>
                    <a:lstStyle/>
                    <a:p>
                      <a:pPr marL="0" indent="0">
                        <a:buNone/>
                      </a:pPr>
                      <a:r>
                        <a:rPr lang="en-US" sz="1000" b="1" dirty="0">
                          <a:solidFill>
                            <a:srgbClr val="14B8A6"/>
                          </a:solidFill>
                          <a:latin typeface="Calibri" pitchFamily="34" charset="0"/>
                          <a:ea typeface="Calibri" pitchFamily="34" charset="-122"/>
                          <a:cs typeface="Calibri" pitchFamily="34" charset="-120"/>
                        </a:rPr>
                        <a:t>FYM + carrier training, scripts, quote tools, compliance systems</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2744"/>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D4A843"/>
                          </a:solidFill>
                          <a:latin typeface="Calibri" pitchFamily="34" charset="0"/>
                          <a:ea typeface="Calibri" pitchFamily="34" charset="-122"/>
                          <a:cs typeface="Calibri" pitchFamily="34" charset="-120"/>
                        </a:rPr>
                        <a:t>Lead Flow</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31D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Source your own</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31D33"/>
                    </a:solidFill>
                  </a:tcPr>
                </a:tc>
                <a:tc>
                  <a:txBody>
                    <a:bodyPr/>
                    <a:lstStyle/>
                    <a:p>
                      <a:pPr marL="0" indent="0">
                        <a:buNone/>
                      </a:pPr>
                      <a:r>
                        <a:rPr lang="en-US" sz="1000" b="1" dirty="0">
                          <a:solidFill>
                            <a:srgbClr val="14B8A6"/>
                          </a:solidFill>
                          <a:latin typeface="Calibri" pitchFamily="34" charset="0"/>
                          <a:ea typeface="Calibri" pitchFamily="34" charset="-122"/>
                          <a:cs typeface="Calibri" pitchFamily="34" charset="-120"/>
                        </a:rPr>
                        <a:t>Out-of-the-box CPL &amp; CPA options + bring your own</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31D33"/>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D4A843"/>
                          </a:solidFill>
                          <a:latin typeface="Calibri" pitchFamily="34" charset="0"/>
                          <a:ea typeface="Calibri" pitchFamily="34" charset="-122"/>
                          <a:cs typeface="Calibri" pitchFamily="34" charset="-120"/>
                        </a:rPr>
                        <a:t>Exit Optionality</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2744"/>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Build on your own</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2744"/>
                    </a:solidFill>
                  </a:tcPr>
                </a:tc>
                <a:tc>
                  <a:txBody>
                    <a:bodyPr/>
                    <a:lstStyle/>
                    <a:p>
                      <a:pPr marL="0" indent="0">
                        <a:buNone/>
                      </a:pPr>
                      <a:r>
                        <a:rPr lang="en-US" sz="1000" b="1" dirty="0">
                          <a:solidFill>
                            <a:srgbClr val="14B8A6"/>
                          </a:solidFill>
                          <a:latin typeface="Calibri" pitchFamily="34" charset="0"/>
                          <a:ea typeface="Calibri" pitchFamily="34" charset="-122"/>
                          <a:cs typeface="Calibri" pitchFamily="34" charset="-120"/>
                        </a:rPr>
                        <a:t>Capital partners available once EBITDA qualifies</a:t>
                      </a:r>
                      <a:endParaRPr lang="en-US" sz="1000" dirty="0">
                        <a:latin typeface="Calibri" charset="0"/>
                        <a:ea typeface="Calibri" charset="0"/>
                        <a:cs typeface="Calibri" charset="0"/>
                      </a:endParaRPr>
                    </a:p>
                  </a:txBody>
                  <a:tcPr marL="127000" marR="127000" marT="76200" marB="76200">
                    <a:lnL w="6350" cap="flat" cmpd="sng" algn="ctr">
                      <a:solidFill>
                        <a:srgbClr val="1E2D4A"/>
                      </a:solidFill>
                      <a:prstDash val="solid"/>
                      <a:round/>
                      <a:headEnd type="none" w="med" len="med"/>
                      <a:tailEnd type="none" w="med" len="med"/>
                    </a:lnL>
                    <a:lnR w="6350" cap="flat" cmpd="sng" algn="ctr">
                      <a:solidFill>
                        <a:srgbClr val="1E2D4A"/>
                      </a:solidFill>
                      <a:prstDash val="solid"/>
                      <a:round/>
                      <a:headEnd type="none" w="med" len="med"/>
                      <a:tailEnd type="none" w="med" len="med"/>
                    </a:lnR>
                    <a:lnT w="6350" cap="flat" cmpd="sng" algn="ctr">
                      <a:solidFill>
                        <a:srgbClr val="1E2D4A"/>
                      </a:solidFill>
                      <a:prstDash val="solid"/>
                      <a:round/>
                      <a:headEnd type="none" w="med" len="med"/>
                      <a:tailEnd type="none" w="med" len="med"/>
                    </a:lnT>
                    <a:lnB w="6350" cap="flat" cmpd="sng" algn="ctr">
                      <a:solidFill>
                        <a:srgbClr val="1E2D4A"/>
                      </a:solidFill>
                      <a:prstDash val="solid"/>
                      <a:round/>
                      <a:headEnd type="none" w="med" len="med"/>
                      <a:tailEnd type="none" w="med" len="med"/>
                    </a:lnB>
                    <a:solidFill>
                      <a:srgbClr val="1A2744"/>
                    </a:solidFill>
                  </a:tcPr>
                </a:tc>
                <a:extLst>
                  <a:ext uri="{0D108BD9-81ED-4DB2-BD59-A6C34878D82A}">
                    <a16:rowId xmlns:a16="http://schemas.microsoft.com/office/drawing/2014/main" val="10006"/>
                  </a:ext>
                </a:extLst>
              </a:tr>
            </a:tbl>
          </a:graphicData>
        </a:graphic>
      </p:graphicFrame>
      <p:sp>
        <p:nvSpPr>
          <p:cNvPr id="6" name="Shape 3"/>
          <p:cNvSpPr/>
          <p:nvPr/>
        </p:nvSpPr>
        <p:spPr>
          <a:xfrm>
            <a:off x="0" y="4892040"/>
            <a:ext cx="9144000" cy="256032"/>
          </a:xfrm>
          <a:prstGeom prst="rect">
            <a:avLst/>
          </a:prstGeom>
          <a:solidFill>
            <a:srgbClr val="080E1A"/>
          </a:solidFill>
          <a:ln/>
        </p:spPr>
        <p:txBody>
          <a:bodyPr/>
          <a:lstStyle/>
          <a:p>
            <a:endParaRPr lang="en-US"/>
          </a:p>
        </p:txBody>
      </p:sp>
      <p:sp>
        <p:nvSpPr>
          <p:cNvPr id="7" name="Text 4"/>
          <p:cNvSpPr/>
          <p:nvPr/>
        </p:nvSpPr>
        <p:spPr>
          <a:xfrm>
            <a:off x="548640" y="4910328"/>
            <a:ext cx="3657600" cy="201168"/>
          </a:xfrm>
          <a:prstGeom prst="rect">
            <a:avLst/>
          </a:prstGeom>
          <a:noFill/>
          <a:ln/>
        </p:spPr>
        <p:txBody>
          <a:bodyPr wrap="square" lIns="0" tIns="0" rIns="0" bIns="0" rtlCol="0" anchor="ctr"/>
          <a:lstStyle/>
          <a:p>
            <a:pPr marL="0" indent="0">
              <a:buNone/>
            </a:pPr>
            <a:r>
              <a:rPr lang="en-US" sz="700" kern="0" spc="200" dirty="0">
                <a:solidFill>
                  <a:srgbClr val="64748B"/>
                </a:solidFill>
                <a:latin typeface="Calibri" pitchFamily="34" charset="0"/>
                <a:ea typeface="Calibri" pitchFamily="34" charset="-122"/>
                <a:cs typeface="Calibri" pitchFamily="34" charset="-120"/>
              </a:rPr>
              <a:t>FYM FINANCIAL  |  CONFIDENTIAL</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txBody>
          <a:bodyPr/>
          <a:lstStyle/>
          <a:p>
            <a:endParaRPr lang="en-US"/>
          </a:p>
        </p:txBody>
      </p:sp>
      <p:sp>
        <p:nvSpPr>
          <p:cNvPr id="3" name="Text 1"/>
          <p:cNvSpPr/>
          <p:nvPr/>
        </p:nvSpPr>
        <p:spPr>
          <a:xfrm>
            <a:off x="548640" y="228600"/>
            <a:ext cx="5486400" cy="457200"/>
          </a:xfrm>
          <a:prstGeom prst="rect">
            <a:avLst/>
          </a:prstGeom>
          <a:noFill/>
          <a:ln/>
        </p:spPr>
        <p:txBody>
          <a:bodyPr wrap="square" lIns="0" tIns="0" rIns="0" bIns="0" rtlCol="0" anchor="ctr"/>
          <a:lstStyle/>
          <a:p>
            <a:pPr marL="0" indent="0">
              <a:buNone/>
            </a:pPr>
            <a:r>
              <a:rPr lang="en-US" sz="1100" b="1" kern="0" spc="400" dirty="0">
                <a:solidFill>
                  <a:srgbClr val="D4A843"/>
                </a:solidFill>
                <a:latin typeface="Calibri" pitchFamily="34" charset="0"/>
                <a:ea typeface="Calibri" pitchFamily="34" charset="-122"/>
                <a:cs typeface="Calibri" pitchFamily="34" charset="-120"/>
              </a:rPr>
              <a:t>THE ECONOMICS</a:t>
            </a:r>
            <a:endParaRPr lang="en-US" sz="1100" dirty="0"/>
          </a:p>
        </p:txBody>
      </p:sp>
      <p:sp>
        <p:nvSpPr>
          <p:cNvPr id="4" name="Text 2"/>
          <p:cNvSpPr/>
          <p:nvPr/>
        </p:nvSpPr>
        <p:spPr>
          <a:xfrm>
            <a:off x="548640" y="594360"/>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Cash Flow Positive From Day One</a:t>
            </a:r>
            <a:endParaRPr lang="en-US" sz="3000" dirty="0"/>
          </a:p>
        </p:txBody>
      </p:sp>
      <p:sp>
        <p:nvSpPr>
          <p:cNvPr id="5" name="Shape 3"/>
          <p:cNvSpPr/>
          <p:nvPr/>
        </p:nvSpPr>
        <p:spPr>
          <a:xfrm>
            <a:off x="548640" y="1325880"/>
            <a:ext cx="2606040" cy="155448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6" name="Text 4"/>
          <p:cNvSpPr/>
          <p:nvPr/>
        </p:nvSpPr>
        <p:spPr>
          <a:xfrm>
            <a:off x="548640" y="1371600"/>
            <a:ext cx="2606040" cy="731520"/>
          </a:xfrm>
          <a:prstGeom prst="rect">
            <a:avLst/>
          </a:prstGeom>
          <a:noFill/>
          <a:ln/>
        </p:spPr>
        <p:txBody>
          <a:bodyPr wrap="square" lIns="0" tIns="0" rIns="0" bIns="0" rtlCol="0" anchor="ctr"/>
          <a:lstStyle/>
          <a:p>
            <a:pPr marL="0" indent="0" algn="ctr">
              <a:buNone/>
            </a:pPr>
            <a:r>
              <a:rPr lang="en-US" sz="4200" b="1" dirty="0">
                <a:solidFill>
                  <a:srgbClr val="3B82F6"/>
                </a:solidFill>
                <a:latin typeface="Trebuchet MS" pitchFamily="34" charset="0"/>
                <a:ea typeface="Trebuchet MS" pitchFamily="34" charset="-122"/>
                <a:cs typeface="Trebuchet MS" pitchFamily="34" charset="-120"/>
              </a:rPr>
              <a:t>9 Mo</a:t>
            </a:r>
            <a:endParaRPr lang="en-US" sz="4200" dirty="0"/>
          </a:p>
        </p:txBody>
      </p:sp>
      <p:sp>
        <p:nvSpPr>
          <p:cNvPr id="7" name="Text 5"/>
          <p:cNvSpPr/>
          <p:nvPr/>
        </p:nvSpPr>
        <p:spPr>
          <a:xfrm>
            <a:off x="548640" y="2057400"/>
            <a:ext cx="26060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Advance on Draft</a:t>
            </a:r>
            <a:endParaRPr lang="en-US" sz="1200" dirty="0"/>
          </a:p>
        </p:txBody>
      </p:sp>
      <p:sp>
        <p:nvSpPr>
          <p:cNvPr id="8" name="Text 6"/>
          <p:cNvSpPr/>
          <p:nvPr/>
        </p:nvSpPr>
        <p:spPr>
          <a:xfrm>
            <a:off x="548640" y="2331720"/>
            <a:ext cx="2606040" cy="274320"/>
          </a:xfrm>
          <a:prstGeom prst="rect">
            <a:avLst/>
          </a:prstGeom>
          <a:noFill/>
          <a:ln/>
        </p:spPr>
        <p:txBody>
          <a:bodyPr wrap="square" lIns="0" tIns="0" rIns="0" bIns="0"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3x the industry standard</a:t>
            </a:r>
            <a:endParaRPr lang="en-US" sz="1000" dirty="0"/>
          </a:p>
        </p:txBody>
      </p:sp>
      <p:sp>
        <p:nvSpPr>
          <p:cNvPr id="9" name="Shape 7"/>
          <p:cNvSpPr/>
          <p:nvPr/>
        </p:nvSpPr>
        <p:spPr>
          <a:xfrm>
            <a:off x="3429000" y="1325880"/>
            <a:ext cx="2606040" cy="155448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10" name="Text 8"/>
          <p:cNvSpPr/>
          <p:nvPr/>
        </p:nvSpPr>
        <p:spPr>
          <a:xfrm>
            <a:off x="3429000" y="1371600"/>
            <a:ext cx="2606040" cy="731520"/>
          </a:xfrm>
          <a:prstGeom prst="rect">
            <a:avLst/>
          </a:prstGeom>
          <a:noFill/>
          <a:ln/>
        </p:spPr>
        <p:txBody>
          <a:bodyPr wrap="square" lIns="0" tIns="0" rIns="0" bIns="0" rtlCol="0" anchor="ctr"/>
          <a:lstStyle/>
          <a:p>
            <a:pPr marL="0" indent="0" algn="ctr">
              <a:buNone/>
            </a:pPr>
            <a:r>
              <a:rPr lang="en-US" sz="4200" b="1" dirty="0">
                <a:solidFill>
                  <a:srgbClr val="14B8A6"/>
                </a:solidFill>
                <a:latin typeface="Trebuchet MS" pitchFamily="34" charset="0"/>
                <a:ea typeface="Trebuchet MS" pitchFamily="34" charset="-122"/>
                <a:cs typeface="Trebuchet MS" pitchFamily="34" charset="-120"/>
              </a:rPr>
              <a:t>12 Mo</a:t>
            </a:r>
            <a:endParaRPr lang="en-US" sz="4200" dirty="0"/>
          </a:p>
        </p:txBody>
      </p:sp>
      <p:sp>
        <p:nvSpPr>
          <p:cNvPr id="11" name="Text 9"/>
          <p:cNvSpPr/>
          <p:nvPr/>
        </p:nvSpPr>
        <p:spPr>
          <a:xfrm>
            <a:off x="3429000" y="2057400"/>
            <a:ext cx="26060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Advance on Draft</a:t>
            </a:r>
            <a:endParaRPr lang="en-US" sz="1200" dirty="0"/>
          </a:p>
        </p:txBody>
      </p:sp>
      <p:sp>
        <p:nvSpPr>
          <p:cNvPr id="12" name="Text 10"/>
          <p:cNvSpPr/>
          <p:nvPr/>
        </p:nvSpPr>
        <p:spPr>
          <a:xfrm>
            <a:off x="3429000" y="2331720"/>
            <a:ext cx="2606040" cy="274320"/>
          </a:xfrm>
          <a:prstGeom prst="rect">
            <a:avLst/>
          </a:prstGeom>
          <a:noFill/>
          <a:ln/>
        </p:spPr>
        <p:txBody>
          <a:bodyPr wrap="square" lIns="0" tIns="0" rIns="0" bIns="0"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Earned through quality production</a:t>
            </a:r>
            <a:endParaRPr lang="en-US" sz="1000" dirty="0"/>
          </a:p>
        </p:txBody>
      </p:sp>
      <p:sp>
        <p:nvSpPr>
          <p:cNvPr id="13" name="Shape 11"/>
          <p:cNvSpPr/>
          <p:nvPr/>
        </p:nvSpPr>
        <p:spPr>
          <a:xfrm>
            <a:off x="6309360" y="1325880"/>
            <a:ext cx="2606040" cy="155448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14" name="Text 12"/>
          <p:cNvSpPr/>
          <p:nvPr/>
        </p:nvSpPr>
        <p:spPr>
          <a:xfrm>
            <a:off x="6309360" y="1371600"/>
            <a:ext cx="2606040" cy="731520"/>
          </a:xfrm>
          <a:prstGeom prst="rect">
            <a:avLst/>
          </a:prstGeom>
          <a:noFill/>
          <a:ln/>
        </p:spPr>
        <p:txBody>
          <a:bodyPr wrap="square" lIns="0" tIns="0" rIns="0" bIns="0" rtlCol="0" anchor="ctr"/>
          <a:lstStyle/>
          <a:p>
            <a:pPr marL="0" indent="0" algn="ctr">
              <a:buNone/>
            </a:pPr>
            <a:r>
              <a:rPr lang="en-US" sz="4200" b="1" dirty="0">
                <a:solidFill>
                  <a:srgbClr val="D4A843"/>
                </a:solidFill>
                <a:latin typeface="Trebuchet MS" pitchFamily="34" charset="0"/>
                <a:ea typeface="Trebuchet MS" pitchFamily="34" charset="-122"/>
                <a:cs typeface="Trebuchet MS" pitchFamily="34" charset="-120"/>
              </a:rPr>
              <a:t>Yr 2–10</a:t>
            </a:r>
            <a:endParaRPr lang="en-US" sz="4200" dirty="0"/>
          </a:p>
        </p:txBody>
      </p:sp>
      <p:sp>
        <p:nvSpPr>
          <p:cNvPr id="15" name="Text 13"/>
          <p:cNvSpPr/>
          <p:nvPr/>
        </p:nvSpPr>
        <p:spPr>
          <a:xfrm>
            <a:off x="6309360" y="2057400"/>
            <a:ext cx="26060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Renewal Income</a:t>
            </a:r>
            <a:endParaRPr lang="en-US" sz="1200" dirty="0"/>
          </a:p>
        </p:txBody>
      </p:sp>
      <p:sp>
        <p:nvSpPr>
          <p:cNvPr id="16" name="Text 14"/>
          <p:cNvSpPr/>
          <p:nvPr/>
        </p:nvSpPr>
        <p:spPr>
          <a:xfrm>
            <a:off x="6309360" y="2331720"/>
            <a:ext cx="2606040" cy="274320"/>
          </a:xfrm>
          <a:prstGeom prst="rect">
            <a:avLst/>
          </a:prstGeom>
          <a:noFill/>
          <a:ln/>
        </p:spPr>
        <p:txBody>
          <a:bodyPr wrap="square" lIns="0" tIns="0" rIns="0" bIns="0"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Levelized cash flow</a:t>
            </a:r>
            <a:endParaRPr lang="en-US" sz="1000" dirty="0"/>
          </a:p>
        </p:txBody>
      </p:sp>
      <p:sp>
        <p:nvSpPr>
          <p:cNvPr id="17" name="Shape 15"/>
          <p:cNvSpPr/>
          <p:nvPr/>
        </p:nvSpPr>
        <p:spPr>
          <a:xfrm>
            <a:off x="548640" y="3154680"/>
            <a:ext cx="54864" cy="274320"/>
          </a:xfrm>
          <a:prstGeom prst="rect">
            <a:avLst/>
          </a:prstGeom>
          <a:solidFill>
            <a:srgbClr val="D4A843"/>
          </a:solidFill>
          <a:ln/>
        </p:spPr>
        <p:txBody>
          <a:bodyPr/>
          <a:lstStyle/>
          <a:p>
            <a:endParaRPr lang="en-US"/>
          </a:p>
        </p:txBody>
      </p:sp>
      <p:sp>
        <p:nvSpPr>
          <p:cNvPr id="18" name="Text 16"/>
          <p:cNvSpPr/>
          <p:nvPr/>
        </p:nvSpPr>
        <p:spPr>
          <a:xfrm>
            <a:off x="777240" y="3108960"/>
            <a:ext cx="777240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Cash flow positive immediately.</a:t>
            </a:r>
            <a:r>
              <a:rPr lang="en-US" sz="1100" dirty="0">
                <a:solidFill>
                  <a:srgbClr val="94A3B8"/>
                </a:solidFill>
                <a:latin typeface="Calibri" pitchFamily="34" charset="0"/>
                <a:ea typeface="Calibri" pitchFamily="34" charset="-122"/>
                <a:cs typeface="Calibri" pitchFamily="34" charset="-120"/>
              </a:rPr>
              <a:t> The 9-month advance means your agency earns from the first drafted app. No ramp period.</a:t>
            </a:r>
            <a:endParaRPr lang="en-US" sz="1100" dirty="0"/>
          </a:p>
        </p:txBody>
      </p:sp>
      <p:sp>
        <p:nvSpPr>
          <p:cNvPr id="19" name="Shape 17"/>
          <p:cNvSpPr/>
          <p:nvPr/>
        </p:nvSpPr>
        <p:spPr>
          <a:xfrm>
            <a:off x="548640" y="3557016"/>
            <a:ext cx="54864" cy="274320"/>
          </a:xfrm>
          <a:prstGeom prst="rect">
            <a:avLst/>
          </a:prstGeom>
          <a:solidFill>
            <a:srgbClr val="D4A843"/>
          </a:solidFill>
          <a:ln/>
        </p:spPr>
        <p:txBody>
          <a:bodyPr/>
          <a:lstStyle/>
          <a:p>
            <a:endParaRPr lang="en-US"/>
          </a:p>
        </p:txBody>
      </p:sp>
      <p:sp>
        <p:nvSpPr>
          <p:cNvPr id="20" name="Text 18"/>
          <p:cNvSpPr/>
          <p:nvPr/>
        </p:nvSpPr>
        <p:spPr>
          <a:xfrm>
            <a:off x="777240" y="3511296"/>
            <a:ext cx="777240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Lead options out of the box.</a:t>
            </a:r>
            <a:r>
              <a:rPr lang="en-US" sz="1100" dirty="0">
                <a:solidFill>
                  <a:srgbClr val="94A3B8"/>
                </a:solidFill>
                <a:latin typeface="Calibri" pitchFamily="34" charset="0"/>
                <a:ea typeface="Calibri" pitchFamily="34" charset="-122"/>
                <a:cs typeface="Calibri" pitchFamily="34" charset="-120"/>
              </a:rPr>
              <a:t> FYM provides CPL and CPA vendor partnerships to get agents producing fast.</a:t>
            </a:r>
            <a:endParaRPr lang="en-US" sz="1100" dirty="0"/>
          </a:p>
        </p:txBody>
      </p:sp>
      <p:sp>
        <p:nvSpPr>
          <p:cNvPr id="21" name="Shape 19"/>
          <p:cNvSpPr/>
          <p:nvPr/>
        </p:nvSpPr>
        <p:spPr>
          <a:xfrm>
            <a:off x="548640" y="3959352"/>
            <a:ext cx="54864" cy="274320"/>
          </a:xfrm>
          <a:prstGeom prst="rect">
            <a:avLst/>
          </a:prstGeom>
          <a:solidFill>
            <a:srgbClr val="D4A843"/>
          </a:solidFill>
          <a:ln/>
        </p:spPr>
        <p:txBody>
          <a:bodyPr/>
          <a:lstStyle/>
          <a:p>
            <a:endParaRPr lang="en-US"/>
          </a:p>
        </p:txBody>
      </p:sp>
      <p:sp>
        <p:nvSpPr>
          <p:cNvPr id="22" name="Text 20"/>
          <p:cNvSpPr/>
          <p:nvPr/>
        </p:nvSpPr>
        <p:spPr>
          <a:xfrm>
            <a:off x="777240" y="3913632"/>
            <a:ext cx="777240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Renewal equity is levelized.</a:t>
            </a:r>
            <a:r>
              <a:rPr lang="en-US" sz="1100" dirty="0">
                <a:solidFill>
                  <a:srgbClr val="94A3B8"/>
                </a:solidFill>
                <a:latin typeface="Calibri" pitchFamily="34" charset="0"/>
                <a:ea typeface="Calibri" pitchFamily="34" charset="-122"/>
                <a:cs typeface="Calibri" pitchFamily="34" charset="-120"/>
              </a:rPr>
              <a:t> Every placed policy generates levelized cash flow in years 2–10, building sellable agency value.</a:t>
            </a:r>
            <a:endParaRPr lang="en-US" sz="1100" dirty="0"/>
          </a:p>
        </p:txBody>
      </p:sp>
      <p:sp>
        <p:nvSpPr>
          <p:cNvPr id="23" name="Shape 21"/>
          <p:cNvSpPr/>
          <p:nvPr/>
        </p:nvSpPr>
        <p:spPr>
          <a:xfrm>
            <a:off x="548640" y="4361688"/>
            <a:ext cx="54864" cy="274320"/>
          </a:xfrm>
          <a:prstGeom prst="rect">
            <a:avLst/>
          </a:prstGeom>
          <a:solidFill>
            <a:srgbClr val="D4A843"/>
          </a:solidFill>
          <a:ln/>
        </p:spPr>
        <p:txBody>
          <a:bodyPr/>
          <a:lstStyle/>
          <a:p>
            <a:endParaRPr lang="en-US"/>
          </a:p>
        </p:txBody>
      </p:sp>
      <p:sp>
        <p:nvSpPr>
          <p:cNvPr id="24" name="Text 22"/>
          <p:cNvSpPr/>
          <p:nvPr/>
        </p:nvSpPr>
        <p:spPr>
          <a:xfrm>
            <a:off x="777240" y="4315968"/>
            <a:ext cx="777240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Model your exact economics.</a:t>
            </a:r>
            <a:r>
              <a:rPr lang="en-US" sz="1100" dirty="0">
                <a:solidFill>
                  <a:srgbClr val="94A3B8"/>
                </a:solidFill>
                <a:latin typeface="Calibri" pitchFamily="34" charset="0"/>
                <a:ea typeface="Calibri" pitchFamily="34" charset="-122"/>
                <a:cs typeface="Calibri" pitchFamily="34" charset="-120"/>
              </a:rPr>
              <a:t> The FYM Financial Modeler shows precise margins for your team size and comp structure.</a:t>
            </a:r>
            <a:endParaRPr lang="en-US" sz="1100" dirty="0"/>
          </a:p>
        </p:txBody>
      </p:sp>
      <p:sp>
        <p:nvSpPr>
          <p:cNvPr id="25" name="Shape 23"/>
          <p:cNvSpPr/>
          <p:nvPr/>
        </p:nvSpPr>
        <p:spPr>
          <a:xfrm>
            <a:off x="0" y="4892040"/>
            <a:ext cx="9144000" cy="256032"/>
          </a:xfrm>
          <a:prstGeom prst="rect">
            <a:avLst/>
          </a:prstGeom>
          <a:solidFill>
            <a:srgbClr val="080E1A"/>
          </a:solidFill>
          <a:ln/>
        </p:spPr>
        <p:txBody>
          <a:bodyPr/>
          <a:lstStyle/>
          <a:p>
            <a:endParaRPr lang="en-US"/>
          </a:p>
        </p:txBody>
      </p:sp>
      <p:sp>
        <p:nvSpPr>
          <p:cNvPr id="26" name="Text 24"/>
          <p:cNvSpPr/>
          <p:nvPr/>
        </p:nvSpPr>
        <p:spPr>
          <a:xfrm>
            <a:off x="548640" y="4910328"/>
            <a:ext cx="3657600" cy="201168"/>
          </a:xfrm>
          <a:prstGeom prst="rect">
            <a:avLst/>
          </a:prstGeom>
          <a:noFill/>
          <a:ln/>
        </p:spPr>
        <p:txBody>
          <a:bodyPr wrap="square" lIns="0" tIns="0" rIns="0" bIns="0" rtlCol="0" anchor="ctr"/>
          <a:lstStyle/>
          <a:p>
            <a:pPr marL="0" indent="0">
              <a:buNone/>
            </a:pPr>
            <a:r>
              <a:rPr lang="en-US" sz="700" kern="0" spc="200" dirty="0">
                <a:solidFill>
                  <a:srgbClr val="64748B"/>
                </a:solidFill>
                <a:latin typeface="Calibri" pitchFamily="34" charset="0"/>
                <a:ea typeface="Calibri" pitchFamily="34" charset="-122"/>
                <a:cs typeface="Calibri" pitchFamily="34" charset="-120"/>
              </a:rPr>
              <a:t>FYM FINANCIAL  |  CONFIDENTIAL</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14B8A6"/>
          </a:solidFill>
          <a:ln/>
        </p:spPr>
        <p:txBody>
          <a:bodyPr/>
          <a:lstStyle/>
          <a:p>
            <a:endParaRPr lang="en-US"/>
          </a:p>
        </p:txBody>
      </p:sp>
      <p:sp>
        <p:nvSpPr>
          <p:cNvPr id="3" name="Text 1"/>
          <p:cNvSpPr/>
          <p:nvPr/>
        </p:nvSpPr>
        <p:spPr>
          <a:xfrm>
            <a:off x="548640" y="228600"/>
            <a:ext cx="5486400" cy="457200"/>
          </a:xfrm>
          <a:prstGeom prst="rect">
            <a:avLst/>
          </a:prstGeom>
          <a:noFill/>
          <a:ln/>
        </p:spPr>
        <p:txBody>
          <a:bodyPr wrap="square" lIns="0" tIns="0" rIns="0" bIns="0" rtlCol="0" anchor="ctr"/>
          <a:lstStyle/>
          <a:p>
            <a:pPr marL="0" indent="0">
              <a:buNone/>
            </a:pPr>
            <a:r>
              <a:rPr lang="en-US" sz="1100" b="1" kern="0" spc="400" dirty="0">
                <a:solidFill>
                  <a:srgbClr val="14B8A6"/>
                </a:solidFill>
                <a:latin typeface="Calibri" pitchFamily="34" charset="0"/>
                <a:ea typeface="Calibri" pitchFamily="34" charset="-122"/>
                <a:cs typeface="Calibri" pitchFamily="34" charset="-120"/>
              </a:rPr>
              <a:t>WHAT YOU KEEP</a:t>
            </a:r>
            <a:endParaRPr lang="en-US" sz="1100" dirty="0"/>
          </a:p>
        </p:txBody>
      </p:sp>
      <p:sp>
        <p:nvSpPr>
          <p:cNvPr id="4" name="Text 2"/>
          <p:cNvSpPr/>
          <p:nvPr/>
        </p:nvSpPr>
        <p:spPr>
          <a:xfrm>
            <a:off x="548640" y="594360"/>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FYM Is Additive — Nothing Changes</a:t>
            </a:r>
            <a:endParaRPr lang="en-US" sz="3000" dirty="0"/>
          </a:p>
        </p:txBody>
      </p:sp>
      <p:sp>
        <p:nvSpPr>
          <p:cNvPr id="5" name="Shape 3"/>
          <p:cNvSpPr/>
          <p:nvPr/>
        </p:nvSpPr>
        <p:spPr>
          <a:xfrm>
            <a:off x="548640" y="1371600"/>
            <a:ext cx="3886200" cy="137160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6" name="Shape 4"/>
          <p:cNvSpPr/>
          <p:nvPr/>
        </p:nvSpPr>
        <p:spPr>
          <a:xfrm>
            <a:off x="731520" y="1645920"/>
            <a:ext cx="502920" cy="502920"/>
          </a:xfrm>
          <a:prstGeom prst="ellipse">
            <a:avLst/>
          </a:prstGeom>
          <a:solidFill>
            <a:srgbClr val="1A2744"/>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22960" y="1719072"/>
            <a:ext cx="320040" cy="320040"/>
          </a:xfrm>
          <a:prstGeom prst="rect">
            <a:avLst/>
          </a:prstGeom>
        </p:spPr>
      </p:pic>
      <p:sp>
        <p:nvSpPr>
          <p:cNvPr id="8" name="Text 5"/>
          <p:cNvSpPr/>
          <p:nvPr/>
        </p:nvSpPr>
        <p:spPr>
          <a:xfrm>
            <a:off x="1371600" y="1508760"/>
            <a:ext cx="28346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Your Medicare Upline</a:t>
            </a:r>
            <a:endParaRPr lang="en-US" sz="1400" dirty="0"/>
          </a:p>
        </p:txBody>
      </p:sp>
      <p:sp>
        <p:nvSpPr>
          <p:cNvPr id="9" name="Text 6"/>
          <p:cNvSpPr/>
          <p:nvPr/>
        </p:nvSpPr>
        <p:spPr>
          <a:xfrm>
            <a:off x="1371600" y="1828800"/>
            <a:ext cx="2834640" cy="7772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FYM does not hold Medicare contracts. We do not compete for, redirect, or touch your MAPD production. Your upline stays exactly where it is.</a:t>
            </a:r>
            <a:endParaRPr lang="en-US" sz="1000" dirty="0"/>
          </a:p>
        </p:txBody>
      </p:sp>
      <p:sp>
        <p:nvSpPr>
          <p:cNvPr id="10" name="Shape 7"/>
          <p:cNvSpPr/>
          <p:nvPr/>
        </p:nvSpPr>
        <p:spPr>
          <a:xfrm>
            <a:off x="4754880" y="1371600"/>
            <a:ext cx="3886200" cy="137160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11" name="Shape 8"/>
          <p:cNvSpPr/>
          <p:nvPr/>
        </p:nvSpPr>
        <p:spPr>
          <a:xfrm>
            <a:off x="4937760" y="1645920"/>
            <a:ext cx="502920" cy="502920"/>
          </a:xfrm>
          <a:prstGeom prst="ellipse">
            <a:avLst/>
          </a:prstGeom>
          <a:solidFill>
            <a:srgbClr val="1A2744"/>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029200" y="1719072"/>
            <a:ext cx="320040" cy="320040"/>
          </a:xfrm>
          <a:prstGeom prst="rect">
            <a:avLst/>
          </a:prstGeom>
        </p:spPr>
      </p:pic>
      <p:sp>
        <p:nvSpPr>
          <p:cNvPr id="13" name="Text 9"/>
          <p:cNvSpPr/>
          <p:nvPr/>
        </p:nvSpPr>
        <p:spPr>
          <a:xfrm>
            <a:off x="5577840" y="1508760"/>
            <a:ext cx="28346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Your Carrier Relationships</a:t>
            </a:r>
            <a:endParaRPr lang="en-US" sz="1400" dirty="0"/>
          </a:p>
        </p:txBody>
      </p:sp>
      <p:sp>
        <p:nvSpPr>
          <p:cNvPr id="14" name="Text 10"/>
          <p:cNvSpPr/>
          <p:nvPr/>
        </p:nvSpPr>
        <p:spPr>
          <a:xfrm>
            <a:off x="5577840" y="1828800"/>
            <a:ext cx="2834640" cy="7772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Ancillary carriers pay your agency directly. There is no intermediary. FYM gets you the contract level and advance terms you cannot get on your own.</a:t>
            </a:r>
            <a:endParaRPr lang="en-US" sz="1000" dirty="0"/>
          </a:p>
        </p:txBody>
      </p:sp>
      <p:sp>
        <p:nvSpPr>
          <p:cNvPr id="15" name="Shape 11"/>
          <p:cNvSpPr/>
          <p:nvPr/>
        </p:nvSpPr>
        <p:spPr>
          <a:xfrm>
            <a:off x="548640" y="2971800"/>
            <a:ext cx="3886200" cy="137160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16" name="Shape 12"/>
          <p:cNvSpPr/>
          <p:nvPr/>
        </p:nvSpPr>
        <p:spPr>
          <a:xfrm>
            <a:off x="731520" y="3246120"/>
            <a:ext cx="502920" cy="502920"/>
          </a:xfrm>
          <a:prstGeom prst="ellipse">
            <a:avLst/>
          </a:prstGeom>
          <a:solidFill>
            <a:srgbClr val="1A2744"/>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22960" y="3319272"/>
            <a:ext cx="320040" cy="320040"/>
          </a:xfrm>
          <a:prstGeom prst="rect">
            <a:avLst/>
          </a:prstGeom>
        </p:spPr>
      </p:pic>
      <p:sp>
        <p:nvSpPr>
          <p:cNvPr id="18" name="Text 13"/>
          <p:cNvSpPr/>
          <p:nvPr/>
        </p:nvSpPr>
        <p:spPr>
          <a:xfrm>
            <a:off x="1371600" y="3108960"/>
            <a:ext cx="28346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Your Agents</a:t>
            </a:r>
            <a:endParaRPr lang="en-US" sz="1400" dirty="0"/>
          </a:p>
        </p:txBody>
      </p:sp>
      <p:sp>
        <p:nvSpPr>
          <p:cNvPr id="19" name="Text 14"/>
          <p:cNvSpPr/>
          <p:nvPr/>
        </p:nvSpPr>
        <p:spPr>
          <a:xfrm>
            <a:off x="1371600" y="3429000"/>
            <a:ext cx="2834640" cy="7772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Your agents work for you. FYM provides training, scripts, and tools, but your agents produce under your agency. We do not recruit them away.</a:t>
            </a:r>
            <a:endParaRPr lang="en-US" sz="1000" dirty="0"/>
          </a:p>
        </p:txBody>
      </p:sp>
      <p:sp>
        <p:nvSpPr>
          <p:cNvPr id="20" name="Shape 15"/>
          <p:cNvSpPr/>
          <p:nvPr/>
        </p:nvSpPr>
        <p:spPr>
          <a:xfrm>
            <a:off x="4754880" y="2971800"/>
            <a:ext cx="3886200" cy="137160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21" name="Shape 16"/>
          <p:cNvSpPr/>
          <p:nvPr/>
        </p:nvSpPr>
        <p:spPr>
          <a:xfrm>
            <a:off x="4937760" y="3246120"/>
            <a:ext cx="502920" cy="502920"/>
          </a:xfrm>
          <a:prstGeom prst="ellipse">
            <a:avLst/>
          </a:prstGeom>
          <a:solidFill>
            <a:srgbClr val="1A2744"/>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5029200" y="3319272"/>
            <a:ext cx="320040" cy="320040"/>
          </a:xfrm>
          <a:prstGeom prst="rect">
            <a:avLst/>
          </a:prstGeom>
        </p:spPr>
      </p:pic>
      <p:sp>
        <p:nvSpPr>
          <p:cNvPr id="23" name="Text 17"/>
          <p:cNvSpPr/>
          <p:nvPr/>
        </p:nvSpPr>
        <p:spPr>
          <a:xfrm>
            <a:off x="5577840" y="3108960"/>
            <a:ext cx="28346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Your Independence</a:t>
            </a:r>
            <a:endParaRPr lang="en-US" sz="1400" dirty="0"/>
          </a:p>
        </p:txBody>
      </p:sp>
      <p:sp>
        <p:nvSpPr>
          <p:cNvPr id="24" name="Text 18"/>
          <p:cNvSpPr/>
          <p:nvPr/>
        </p:nvSpPr>
        <p:spPr>
          <a:xfrm>
            <a:off x="5577840" y="3429000"/>
            <a:ext cx="2834640" cy="77724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Participation is optional. FYM is a resource, not a mandate. You adopt what works. The economics make adoption an easy decision.</a:t>
            </a:r>
            <a:endParaRPr lang="en-US" sz="1000" dirty="0"/>
          </a:p>
        </p:txBody>
      </p:sp>
      <p:sp>
        <p:nvSpPr>
          <p:cNvPr id="25" name="Shape 19"/>
          <p:cNvSpPr/>
          <p:nvPr/>
        </p:nvSpPr>
        <p:spPr>
          <a:xfrm>
            <a:off x="0" y="4892040"/>
            <a:ext cx="9144000" cy="256032"/>
          </a:xfrm>
          <a:prstGeom prst="rect">
            <a:avLst/>
          </a:prstGeom>
          <a:solidFill>
            <a:srgbClr val="080E1A"/>
          </a:solidFill>
          <a:ln/>
        </p:spPr>
        <p:txBody>
          <a:bodyPr/>
          <a:lstStyle/>
          <a:p>
            <a:endParaRPr lang="en-US"/>
          </a:p>
        </p:txBody>
      </p:sp>
      <p:sp>
        <p:nvSpPr>
          <p:cNvPr id="26" name="Text 20"/>
          <p:cNvSpPr/>
          <p:nvPr/>
        </p:nvSpPr>
        <p:spPr>
          <a:xfrm>
            <a:off x="548640" y="4910328"/>
            <a:ext cx="3657600" cy="201168"/>
          </a:xfrm>
          <a:prstGeom prst="rect">
            <a:avLst/>
          </a:prstGeom>
          <a:noFill/>
          <a:ln/>
        </p:spPr>
        <p:txBody>
          <a:bodyPr wrap="square" lIns="0" tIns="0" rIns="0" bIns="0" rtlCol="0" anchor="ctr"/>
          <a:lstStyle/>
          <a:p>
            <a:pPr marL="0" indent="0">
              <a:buNone/>
            </a:pPr>
            <a:r>
              <a:rPr lang="en-US" sz="700" kern="0" spc="200" dirty="0">
                <a:solidFill>
                  <a:srgbClr val="64748B"/>
                </a:solidFill>
                <a:latin typeface="Calibri" pitchFamily="34" charset="0"/>
                <a:ea typeface="Calibri" pitchFamily="34" charset="-122"/>
                <a:cs typeface="Calibri" pitchFamily="34" charset="-120"/>
              </a:rPr>
              <a:t>FYM FINANCIAL  |  CONFIDENTIAL</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3B82F6"/>
          </a:solidFill>
          <a:ln/>
        </p:spPr>
        <p:txBody>
          <a:bodyPr/>
          <a:lstStyle/>
          <a:p>
            <a:endParaRPr lang="en-US"/>
          </a:p>
        </p:txBody>
      </p:sp>
      <p:sp>
        <p:nvSpPr>
          <p:cNvPr id="3" name="Text 1"/>
          <p:cNvSpPr/>
          <p:nvPr/>
        </p:nvSpPr>
        <p:spPr>
          <a:xfrm>
            <a:off x="548640" y="228600"/>
            <a:ext cx="5486400" cy="457200"/>
          </a:xfrm>
          <a:prstGeom prst="rect">
            <a:avLst/>
          </a:prstGeom>
          <a:noFill/>
          <a:ln/>
        </p:spPr>
        <p:txBody>
          <a:bodyPr wrap="square" lIns="0" tIns="0" rIns="0" bIns="0" rtlCol="0" anchor="ctr"/>
          <a:lstStyle/>
          <a:p>
            <a:pPr marL="0" indent="0">
              <a:buNone/>
            </a:pPr>
            <a:r>
              <a:rPr lang="en-US" sz="1100" b="1" kern="0" spc="400" dirty="0">
                <a:solidFill>
                  <a:srgbClr val="3B82F6"/>
                </a:solidFill>
                <a:latin typeface="Calibri" pitchFamily="34" charset="0"/>
                <a:ea typeface="Calibri" pitchFamily="34" charset="-122"/>
                <a:cs typeface="Calibri" pitchFamily="34" charset="-120"/>
              </a:rPr>
              <a:t>WHAT FYM PROVIDES</a:t>
            </a:r>
            <a:endParaRPr lang="en-US" sz="1100" dirty="0"/>
          </a:p>
        </p:txBody>
      </p:sp>
      <p:sp>
        <p:nvSpPr>
          <p:cNvPr id="4" name="Text 2"/>
          <p:cNvSpPr/>
          <p:nvPr/>
        </p:nvSpPr>
        <p:spPr>
          <a:xfrm>
            <a:off x="548640" y="594360"/>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Everything to Launch and Scale</a:t>
            </a:r>
            <a:endParaRPr lang="en-US" sz="3000" dirty="0"/>
          </a:p>
        </p:txBody>
      </p:sp>
      <p:sp>
        <p:nvSpPr>
          <p:cNvPr id="5" name="Shape 3"/>
          <p:cNvSpPr/>
          <p:nvPr/>
        </p:nvSpPr>
        <p:spPr>
          <a:xfrm>
            <a:off x="548640" y="1325880"/>
            <a:ext cx="2606040" cy="146304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6" name="Shape 4"/>
          <p:cNvSpPr/>
          <p:nvPr/>
        </p:nvSpPr>
        <p:spPr>
          <a:xfrm>
            <a:off x="731520" y="1508760"/>
            <a:ext cx="457200" cy="457200"/>
          </a:xfrm>
          <a:prstGeom prst="ellipse">
            <a:avLst/>
          </a:prstGeom>
          <a:solidFill>
            <a:srgbClr val="1A2744"/>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04672" y="1572768"/>
            <a:ext cx="320040" cy="320040"/>
          </a:xfrm>
          <a:prstGeom prst="rect">
            <a:avLst/>
          </a:prstGeom>
        </p:spPr>
      </p:pic>
      <p:sp>
        <p:nvSpPr>
          <p:cNvPr id="8" name="Text 5"/>
          <p:cNvSpPr/>
          <p:nvPr/>
        </p:nvSpPr>
        <p:spPr>
          <a:xfrm>
            <a:off x="1325880" y="1508760"/>
            <a:ext cx="16459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Top-Tier Contracts</a:t>
            </a:r>
            <a:endParaRPr lang="en-US" sz="1200" dirty="0"/>
          </a:p>
        </p:txBody>
      </p:sp>
      <p:sp>
        <p:nvSpPr>
          <p:cNvPr id="9" name="Text 6"/>
          <p:cNvSpPr/>
          <p:nvPr/>
        </p:nvSpPr>
        <p:spPr>
          <a:xfrm>
            <a:off x="731520" y="2057400"/>
            <a:ext cx="2240280" cy="59436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Contract levels most agencies cannot qualify for independently, with UNL, GTL, and other carriers.</a:t>
            </a:r>
            <a:endParaRPr lang="en-US" sz="1000" dirty="0"/>
          </a:p>
        </p:txBody>
      </p:sp>
      <p:sp>
        <p:nvSpPr>
          <p:cNvPr id="10" name="Shape 7"/>
          <p:cNvSpPr/>
          <p:nvPr/>
        </p:nvSpPr>
        <p:spPr>
          <a:xfrm>
            <a:off x="3429000" y="1325880"/>
            <a:ext cx="2606040" cy="146304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11" name="Shape 8"/>
          <p:cNvSpPr/>
          <p:nvPr/>
        </p:nvSpPr>
        <p:spPr>
          <a:xfrm>
            <a:off x="3611880" y="1508760"/>
            <a:ext cx="457200" cy="457200"/>
          </a:xfrm>
          <a:prstGeom prst="ellipse">
            <a:avLst/>
          </a:prstGeom>
          <a:solidFill>
            <a:srgbClr val="1A2744"/>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3685032" y="1572768"/>
            <a:ext cx="320040" cy="320040"/>
          </a:xfrm>
          <a:prstGeom prst="rect">
            <a:avLst/>
          </a:prstGeom>
        </p:spPr>
      </p:pic>
      <p:sp>
        <p:nvSpPr>
          <p:cNvPr id="13" name="Text 9"/>
          <p:cNvSpPr/>
          <p:nvPr/>
        </p:nvSpPr>
        <p:spPr>
          <a:xfrm>
            <a:off x="4206240" y="1508760"/>
            <a:ext cx="16459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Carrier-Funded Advances</a:t>
            </a:r>
            <a:endParaRPr lang="en-US" sz="1200" dirty="0"/>
          </a:p>
        </p:txBody>
      </p:sp>
      <p:sp>
        <p:nvSpPr>
          <p:cNvPr id="14" name="Text 10"/>
          <p:cNvSpPr/>
          <p:nvPr/>
        </p:nvSpPr>
        <p:spPr>
          <a:xfrm>
            <a:off x="3611880" y="2057400"/>
            <a:ext cx="2240280" cy="59436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9-month on submit. 12-month on issue for proven agencies. Cash flow positive from app one.</a:t>
            </a:r>
            <a:endParaRPr lang="en-US" sz="1000" dirty="0"/>
          </a:p>
        </p:txBody>
      </p:sp>
      <p:sp>
        <p:nvSpPr>
          <p:cNvPr id="15" name="Shape 11"/>
          <p:cNvSpPr/>
          <p:nvPr/>
        </p:nvSpPr>
        <p:spPr>
          <a:xfrm>
            <a:off x="6309360" y="1325880"/>
            <a:ext cx="2606040" cy="146304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16" name="Shape 12"/>
          <p:cNvSpPr/>
          <p:nvPr/>
        </p:nvSpPr>
        <p:spPr>
          <a:xfrm>
            <a:off x="6492240" y="1508760"/>
            <a:ext cx="457200" cy="457200"/>
          </a:xfrm>
          <a:prstGeom prst="ellipse">
            <a:avLst/>
          </a:prstGeom>
          <a:solidFill>
            <a:srgbClr val="1A2744"/>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6565392" y="1572768"/>
            <a:ext cx="320040" cy="320040"/>
          </a:xfrm>
          <a:prstGeom prst="rect">
            <a:avLst/>
          </a:prstGeom>
        </p:spPr>
      </p:pic>
      <p:sp>
        <p:nvSpPr>
          <p:cNvPr id="18" name="Text 13"/>
          <p:cNvSpPr/>
          <p:nvPr/>
        </p:nvSpPr>
        <p:spPr>
          <a:xfrm>
            <a:off x="7086600" y="1508760"/>
            <a:ext cx="16459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Training &amp; Scripts</a:t>
            </a:r>
            <a:endParaRPr lang="en-US" sz="1200" dirty="0"/>
          </a:p>
        </p:txBody>
      </p:sp>
      <p:sp>
        <p:nvSpPr>
          <p:cNvPr id="19" name="Text 14"/>
          <p:cNvSpPr/>
          <p:nvPr/>
        </p:nvSpPr>
        <p:spPr>
          <a:xfrm>
            <a:off x="6492240" y="2057400"/>
            <a:ext cx="2240280" cy="59436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Agent Activation Kit with call scripts, product routing, compliance guardrails. Ongoing carrier-led training.</a:t>
            </a:r>
            <a:endParaRPr lang="en-US" sz="1000" dirty="0"/>
          </a:p>
        </p:txBody>
      </p:sp>
      <p:sp>
        <p:nvSpPr>
          <p:cNvPr id="20" name="Shape 15"/>
          <p:cNvSpPr/>
          <p:nvPr/>
        </p:nvSpPr>
        <p:spPr>
          <a:xfrm>
            <a:off x="548640" y="3017520"/>
            <a:ext cx="2606040" cy="146304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21" name="Shape 16"/>
          <p:cNvSpPr/>
          <p:nvPr/>
        </p:nvSpPr>
        <p:spPr>
          <a:xfrm>
            <a:off x="731520" y="3200400"/>
            <a:ext cx="457200" cy="457200"/>
          </a:xfrm>
          <a:prstGeom prst="ellipse">
            <a:avLst/>
          </a:prstGeom>
          <a:solidFill>
            <a:srgbClr val="1A2744"/>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804672" y="3264408"/>
            <a:ext cx="320040" cy="320040"/>
          </a:xfrm>
          <a:prstGeom prst="rect">
            <a:avLst/>
          </a:prstGeom>
        </p:spPr>
      </p:pic>
      <p:sp>
        <p:nvSpPr>
          <p:cNvPr id="23" name="Text 17"/>
          <p:cNvSpPr/>
          <p:nvPr/>
        </p:nvSpPr>
        <p:spPr>
          <a:xfrm>
            <a:off x="1325880" y="3200400"/>
            <a:ext cx="16459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Quote &amp; Modeling Tools</a:t>
            </a:r>
            <a:endParaRPr lang="en-US" sz="1200" dirty="0"/>
          </a:p>
        </p:txBody>
      </p:sp>
      <p:sp>
        <p:nvSpPr>
          <p:cNvPr id="24" name="Text 18"/>
          <p:cNvSpPr/>
          <p:nvPr/>
        </p:nvSpPr>
        <p:spPr>
          <a:xfrm>
            <a:off x="731520" y="3749040"/>
            <a:ext cx="2240280" cy="59436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UNL quote tool for live presentations. FYM Financial Modeler for agency economics.</a:t>
            </a:r>
            <a:endParaRPr lang="en-US" sz="1000" dirty="0"/>
          </a:p>
        </p:txBody>
      </p:sp>
      <p:sp>
        <p:nvSpPr>
          <p:cNvPr id="25" name="Shape 19"/>
          <p:cNvSpPr/>
          <p:nvPr/>
        </p:nvSpPr>
        <p:spPr>
          <a:xfrm>
            <a:off x="3429000" y="3017520"/>
            <a:ext cx="2606040" cy="146304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26" name="Shape 20"/>
          <p:cNvSpPr/>
          <p:nvPr/>
        </p:nvSpPr>
        <p:spPr>
          <a:xfrm>
            <a:off x="3611880" y="3200400"/>
            <a:ext cx="457200" cy="457200"/>
          </a:xfrm>
          <a:prstGeom prst="ellipse">
            <a:avLst/>
          </a:prstGeom>
          <a:solidFill>
            <a:srgbClr val="1A2744"/>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3685032" y="3264408"/>
            <a:ext cx="320040" cy="320040"/>
          </a:xfrm>
          <a:prstGeom prst="rect">
            <a:avLst/>
          </a:prstGeom>
        </p:spPr>
      </p:pic>
      <p:sp>
        <p:nvSpPr>
          <p:cNvPr id="28" name="Text 21"/>
          <p:cNvSpPr/>
          <p:nvPr/>
        </p:nvSpPr>
        <p:spPr>
          <a:xfrm>
            <a:off x="4206240" y="3200400"/>
            <a:ext cx="16459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Lead Vendor Partnerships</a:t>
            </a:r>
            <a:endParaRPr lang="en-US" sz="1200" dirty="0"/>
          </a:p>
        </p:txBody>
      </p:sp>
      <p:sp>
        <p:nvSpPr>
          <p:cNvPr id="29" name="Text 22"/>
          <p:cNvSpPr/>
          <p:nvPr/>
        </p:nvSpPr>
        <p:spPr>
          <a:xfrm>
            <a:off x="3611880" y="3749040"/>
            <a:ext cx="2240280" cy="59436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Out-of-the-box CPL and CPA options at competitive pricing. Bring your own sources too.</a:t>
            </a:r>
            <a:endParaRPr lang="en-US" sz="1000" dirty="0"/>
          </a:p>
        </p:txBody>
      </p:sp>
      <p:sp>
        <p:nvSpPr>
          <p:cNvPr id="30" name="Shape 23"/>
          <p:cNvSpPr/>
          <p:nvPr/>
        </p:nvSpPr>
        <p:spPr>
          <a:xfrm>
            <a:off x="6309360" y="3017520"/>
            <a:ext cx="2606040" cy="146304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31" name="Shape 24"/>
          <p:cNvSpPr/>
          <p:nvPr/>
        </p:nvSpPr>
        <p:spPr>
          <a:xfrm>
            <a:off x="6492240" y="3200400"/>
            <a:ext cx="457200" cy="457200"/>
          </a:xfrm>
          <a:prstGeom prst="ellipse">
            <a:avLst/>
          </a:prstGeom>
          <a:solidFill>
            <a:srgbClr val="1A2744"/>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6565392" y="3264408"/>
            <a:ext cx="320040" cy="320040"/>
          </a:xfrm>
          <a:prstGeom prst="rect">
            <a:avLst/>
          </a:prstGeom>
        </p:spPr>
      </p:pic>
      <p:sp>
        <p:nvSpPr>
          <p:cNvPr id="33" name="Text 25"/>
          <p:cNvSpPr/>
          <p:nvPr/>
        </p:nvSpPr>
        <p:spPr>
          <a:xfrm>
            <a:off x="7086600" y="3200400"/>
            <a:ext cx="16459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Capital Partner Access</a:t>
            </a:r>
            <a:endParaRPr lang="en-US" sz="1200" dirty="0"/>
          </a:p>
        </p:txBody>
      </p:sp>
      <p:sp>
        <p:nvSpPr>
          <p:cNvPr id="34" name="Text 26"/>
          <p:cNvSpPr/>
          <p:nvPr/>
        </p:nvSpPr>
        <p:spPr>
          <a:xfrm>
            <a:off x="6492240" y="3749040"/>
            <a:ext cx="2240280" cy="59436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Exit optionality once your ancillary EBITDA reaches qualifying levels. Build value, then monetize.</a:t>
            </a:r>
            <a:endParaRPr lang="en-US" sz="1000" dirty="0"/>
          </a:p>
        </p:txBody>
      </p:sp>
      <p:sp>
        <p:nvSpPr>
          <p:cNvPr id="35" name="Shape 27"/>
          <p:cNvSpPr/>
          <p:nvPr/>
        </p:nvSpPr>
        <p:spPr>
          <a:xfrm>
            <a:off x="0" y="4892040"/>
            <a:ext cx="9144000" cy="256032"/>
          </a:xfrm>
          <a:prstGeom prst="rect">
            <a:avLst/>
          </a:prstGeom>
          <a:solidFill>
            <a:srgbClr val="080E1A"/>
          </a:solidFill>
          <a:ln/>
        </p:spPr>
        <p:txBody>
          <a:bodyPr/>
          <a:lstStyle/>
          <a:p>
            <a:endParaRPr lang="en-US"/>
          </a:p>
        </p:txBody>
      </p:sp>
      <p:sp>
        <p:nvSpPr>
          <p:cNvPr id="36" name="Text 28"/>
          <p:cNvSpPr/>
          <p:nvPr/>
        </p:nvSpPr>
        <p:spPr>
          <a:xfrm>
            <a:off x="548640" y="4910328"/>
            <a:ext cx="3657600" cy="201168"/>
          </a:xfrm>
          <a:prstGeom prst="rect">
            <a:avLst/>
          </a:prstGeom>
          <a:noFill/>
          <a:ln/>
        </p:spPr>
        <p:txBody>
          <a:bodyPr wrap="square" lIns="0" tIns="0" rIns="0" bIns="0" rtlCol="0" anchor="ctr"/>
          <a:lstStyle/>
          <a:p>
            <a:pPr marL="0" indent="0">
              <a:buNone/>
            </a:pPr>
            <a:r>
              <a:rPr lang="en-US" sz="700" kern="0" spc="200" dirty="0">
                <a:solidFill>
                  <a:srgbClr val="64748B"/>
                </a:solidFill>
                <a:latin typeface="Calibri" pitchFamily="34" charset="0"/>
                <a:ea typeface="Calibri" pitchFamily="34" charset="-122"/>
                <a:cs typeface="Calibri" pitchFamily="34" charset="-120"/>
              </a:rPr>
              <a:t>FYM FINANCIAL  |  CONFIDENTIAL</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txBody>
          <a:bodyPr/>
          <a:lstStyle/>
          <a:p>
            <a:endParaRPr lang="en-US"/>
          </a:p>
        </p:txBody>
      </p:sp>
      <p:sp>
        <p:nvSpPr>
          <p:cNvPr id="3" name="Text 1"/>
          <p:cNvSpPr/>
          <p:nvPr/>
        </p:nvSpPr>
        <p:spPr>
          <a:xfrm>
            <a:off x="548640" y="228600"/>
            <a:ext cx="5486400" cy="457200"/>
          </a:xfrm>
          <a:prstGeom prst="rect">
            <a:avLst/>
          </a:prstGeom>
          <a:noFill/>
          <a:ln/>
        </p:spPr>
        <p:txBody>
          <a:bodyPr wrap="square" lIns="0" tIns="0" rIns="0" bIns="0" rtlCol="0" anchor="ctr"/>
          <a:lstStyle/>
          <a:p>
            <a:pPr marL="0" indent="0">
              <a:buNone/>
            </a:pPr>
            <a:r>
              <a:rPr lang="en-US" sz="1100" b="1" kern="0" spc="400" dirty="0">
                <a:solidFill>
                  <a:srgbClr val="D4A843"/>
                </a:solidFill>
                <a:latin typeface="Calibri" pitchFamily="34" charset="0"/>
                <a:ea typeface="Calibri" pitchFamily="34" charset="-122"/>
                <a:cs typeface="Calibri" pitchFamily="34" charset="-120"/>
              </a:rPr>
              <a:t>THE FYM NETWORK</a:t>
            </a:r>
            <a:endParaRPr lang="en-US" sz="1100" dirty="0"/>
          </a:p>
        </p:txBody>
      </p:sp>
      <p:sp>
        <p:nvSpPr>
          <p:cNvPr id="4" name="Text 2"/>
          <p:cNvSpPr/>
          <p:nvPr/>
        </p:nvSpPr>
        <p:spPr>
          <a:xfrm>
            <a:off x="548640" y="594360"/>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A National Distribution Platform</a:t>
            </a:r>
            <a:endParaRPr lang="en-US" sz="3000" dirty="0"/>
          </a:p>
        </p:txBody>
      </p:sp>
      <p:sp>
        <p:nvSpPr>
          <p:cNvPr id="5" name="Shape 3"/>
          <p:cNvSpPr/>
          <p:nvPr/>
        </p:nvSpPr>
        <p:spPr>
          <a:xfrm>
            <a:off x="548640" y="1371600"/>
            <a:ext cx="2606040" cy="182880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554480" y="1508760"/>
            <a:ext cx="548640" cy="548640"/>
          </a:xfrm>
          <a:prstGeom prst="rect">
            <a:avLst/>
          </a:prstGeom>
        </p:spPr>
      </p:pic>
      <p:sp>
        <p:nvSpPr>
          <p:cNvPr id="7" name="Text 4"/>
          <p:cNvSpPr/>
          <p:nvPr/>
        </p:nvSpPr>
        <p:spPr>
          <a:xfrm>
            <a:off x="548640" y="2103120"/>
            <a:ext cx="2606040" cy="640080"/>
          </a:xfrm>
          <a:prstGeom prst="rect">
            <a:avLst/>
          </a:prstGeom>
          <a:noFill/>
          <a:ln/>
        </p:spPr>
        <p:txBody>
          <a:bodyPr wrap="square" lIns="0" tIns="0" rIns="0" bIns="0" rtlCol="0" anchor="ctr"/>
          <a:lstStyle/>
          <a:p>
            <a:pPr marL="0" indent="0" algn="ctr">
              <a:buNone/>
            </a:pPr>
            <a:r>
              <a:rPr lang="en-US" sz="3800" b="1" dirty="0">
                <a:solidFill>
                  <a:srgbClr val="D4A843"/>
                </a:solidFill>
                <a:latin typeface="Trebuchet MS" pitchFamily="34" charset="0"/>
                <a:ea typeface="Trebuchet MS" pitchFamily="34" charset="-122"/>
                <a:cs typeface="Trebuchet MS" pitchFamily="34" charset="-120"/>
              </a:rPr>
              <a:t>25+</a:t>
            </a:r>
            <a:endParaRPr lang="en-US" sz="3800" dirty="0"/>
          </a:p>
        </p:txBody>
      </p:sp>
      <p:sp>
        <p:nvSpPr>
          <p:cNvPr id="8" name="Text 5"/>
          <p:cNvSpPr/>
          <p:nvPr/>
        </p:nvSpPr>
        <p:spPr>
          <a:xfrm>
            <a:off x="548640" y="2697480"/>
            <a:ext cx="2606040" cy="2743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FYM Partners</a:t>
            </a:r>
            <a:endParaRPr lang="en-US" sz="1100" dirty="0"/>
          </a:p>
        </p:txBody>
      </p:sp>
      <p:sp>
        <p:nvSpPr>
          <p:cNvPr id="9" name="Shape 6"/>
          <p:cNvSpPr/>
          <p:nvPr/>
        </p:nvSpPr>
        <p:spPr>
          <a:xfrm>
            <a:off x="3429000" y="1371600"/>
            <a:ext cx="2606040" cy="182880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4434840" y="1508760"/>
            <a:ext cx="548640" cy="548640"/>
          </a:xfrm>
          <a:prstGeom prst="rect">
            <a:avLst/>
          </a:prstGeom>
        </p:spPr>
      </p:pic>
      <p:sp>
        <p:nvSpPr>
          <p:cNvPr id="11" name="Text 7"/>
          <p:cNvSpPr/>
          <p:nvPr/>
        </p:nvSpPr>
        <p:spPr>
          <a:xfrm>
            <a:off x="3429000" y="2103120"/>
            <a:ext cx="2606040" cy="640080"/>
          </a:xfrm>
          <a:prstGeom prst="rect">
            <a:avLst/>
          </a:prstGeom>
          <a:noFill/>
          <a:ln/>
        </p:spPr>
        <p:txBody>
          <a:bodyPr wrap="square" lIns="0" tIns="0" rIns="0" bIns="0" rtlCol="0" anchor="ctr"/>
          <a:lstStyle/>
          <a:p>
            <a:pPr marL="0" indent="0" algn="ctr">
              <a:buNone/>
            </a:pPr>
            <a:r>
              <a:rPr lang="en-US" sz="3800" b="1" dirty="0">
                <a:solidFill>
                  <a:srgbClr val="D4A843"/>
                </a:solidFill>
                <a:latin typeface="Trebuchet MS" pitchFamily="34" charset="0"/>
                <a:ea typeface="Trebuchet MS" pitchFamily="34" charset="-122"/>
                <a:cs typeface="Trebuchet MS" pitchFamily="34" charset="-120"/>
              </a:rPr>
              <a:t>2M+</a:t>
            </a:r>
            <a:endParaRPr lang="en-US" sz="3800" dirty="0"/>
          </a:p>
        </p:txBody>
      </p:sp>
      <p:sp>
        <p:nvSpPr>
          <p:cNvPr id="12" name="Text 8"/>
          <p:cNvSpPr/>
          <p:nvPr/>
        </p:nvSpPr>
        <p:spPr>
          <a:xfrm>
            <a:off x="3429000" y="2697480"/>
            <a:ext cx="2606040" cy="2743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Medicare Apps/Year</a:t>
            </a:r>
            <a:endParaRPr lang="en-US" sz="1100" dirty="0"/>
          </a:p>
        </p:txBody>
      </p:sp>
      <p:sp>
        <p:nvSpPr>
          <p:cNvPr id="13" name="Shape 9"/>
          <p:cNvSpPr/>
          <p:nvPr/>
        </p:nvSpPr>
        <p:spPr>
          <a:xfrm>
            <a:off x="6309360" y="1371600"/>
            <a:ext cx="2606040" cy="182880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7315200" y="1508760"/>
            <a:ext cx="548640" cy="548640"/>
          </a:xfrm>
          <a:prstGeom prst="rect">
            <a:avLst/>
          </a:prstGeom>
        </p:spPr>
      </p:pic>
      <p:sp>
        <p:nvSpPr>
          <p:cNvPr id="15" name="Text 10"/>
          <p:cNvSpPr/>
          <p:nvPr/>
        </p:nvSpPr>
        <p:spPr>
          <a:xfrm>
            <a:off x="6309360" y="2103120"/>
            <a:ext cx="2606040" cy="640080"/>
          </a:xfrm>
          <a:prstGeom prst="rect">
            <a:avLst/>
          </a:prstGeom>
          <a:noFill/>
          <a:ln/>
        </p:spPr>
        <p:txBody>
          <a:bodyPr wrap="square" lIns="0" tIns="0" rIns="0" bIns="0" rtlCol="0" anchor="ctr"/>
          <a:lstStyle/>
          <a:p>
            <a:pPr marL="0" indent="0" algn="ctr">
              <a:buNone/>
            </a:pPr>
            <a:r>
              <a:rPr lang="en-US" sz="3800" b="1" dirty="0">
                <a:solidFill>
                  <a:srgbClr val="D4A843"/>
                </a:solidFill>
                <a:latin typeface="Trebuchet MS" pitchFamily="34" charset="0"/>
                <a:ea typeface="Trebuchet MS" pitchFamily="34" charset="-122"/>
                <a:cs typeface="Trebuchet MS" pitchFamily="34" charset="-120"/>
              </a:rPr>
              <a:t>National</a:t>
            </a:r>
            <a:endParaRPr lang="en-US" sz="3800" dirty="0"/>
          </a:p>
        </p:txBody>
      </p:sp>
      <p:sp>
        <p:nvSpPr>
          <p:cNvPr id="16" name="Text 11"/>
          <p:cNvSpPr/>
          <p:nvPr/>
        </p:nvSpPr>
        <p:spPr>
          <a:xfrm>
            <a:off x="6309360" y="2697480"/>
            <a:ext cx="2606040" cy="2743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Geographic Footprint</a:t>
            </a:r>
            <a:endParaRPr lang="en-US" sz="1100" dirty="0"/>
          </a:p>
        </p:txBody>
      </p:sp>
      <p:sp>
        <p:nvSpPr>
          <p:cNvPr id="17" name="Text 12"/>
          <p:cNvSpPr/>
          <p:nvPr/>
        </p:nvSpPr>
        <p:spPr>
          <a:xfrm>
            <a:off x="548640" y="3474720"/>
            <a:ext cx="8046720" cy="54864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FYM’s partners are predominantly LOA shops with established Medicare distribution, large agent forces, and deep client relationships. By joining the FYM network, you gain access to the same contract levels, advance structures, and operational infrastructure as the largest agencies in our system.</a:t>
            </a:r>
            <a:endParaRPr lang="en-US" sz="1100" dirty="0"/>
          </a:p>
        </p:txBody>
      </p:sp>
      <p:sp>
        <p:nvSpPr>
          <p:cNvPr id="18" name="Shape 13"/>
          <p:cNvSpPr/>
          <p:nvPr/>
        </p:nvSpPr>
        <p:spPr>
          <a:xfrm>
            <a:off x="548640" y="4160520"/>
            <a:ext cx="8046720" cy="502920"/>
          </a:xfrm>
          <a:prstGeom prst="rect">
            <a:avLst/>
          </a:prstGeom>
          <a:solidFill>
            <a:srgbClr val="131D33"/>
          </a:solidFill>
          <a:ln/>
        </p:spPr>
        <p:txBody>
          <a:bodyPr/>
          <a:lstStyle/>
          <a:p>
            <a:endParaRPr lang="en-US"/>
          </a:p>
        </p:txBody>
      </p:sp>
      <p:sp>
        <p:nvSpPr>
          <p:cNvPr id="19" name="Text 14"/>
          <p:cNvSpPr/>
          <p:nvPr/>
        </p:nvSpPr>
        <p:spPr>
          <a:xfrm>
            <a:off x="731520" y="4187952"/>
            <a:ext cx="7680960" cy="457200"/>
          </a:xfrm>
          <a:prstGeom prst="rect">
            <a:avLst/>
          </a:prstGeom>
          <a:noFill/>
          <a:ln/>
        </p:spPr>
        <p:txBody>
          <a:bodyPr wrap="square" lIns="0" tIns="0" rIns="0" bIns="0" rtlCol="0" anchor="ctr"/>
          <a:lstStyle/>
          <a:p>
            <a:pPr marL="0" indent="0">
              <a:buNone/>
            </a:pPr>
            <a:r>
              <a:rPr lang="en-US" sz="1100" i="1" dirty="0">
                <a:solidFill>
                  <a:srgbClr val="D4A843"/>
                </a:solidFill>
                <a:latin typeface="Calibri" pitchFamily="34" charset="0"/>
                <a:ea typeface="Calibri" pitchFamily="34" charset="-122"/>
                <a:cs typeface="Calibri" pitchFamily="34" charset="-120"/>
              </a:rPr>
              <a:t>Led by senior executives with decades of experience in Medicare distribution, carrier relations, and insurance operations. FYM is not a startup — it is an operating platform built and run by some of the best in the industry.</a:t>
            </a:r>
            <a:endParaRPr lang="en-US" sz="1100" dirty="0"/>
          </a:p>
        </p:txBody>
      </p:sp>
      <p:sp>
        <p:nvSpPr>
          <p:cNvPr id="20" name="Shape 15"/>
          <p:cNvSpPr/>
          <p:nvPr/>
        </p:nvSpPr>
        <p:spPr>
          <a:xfrm>
            <a:off x="0" y="4892040"/>
            <a:ext cx="9144000" cy="256032"/>
          </a:xfrm>
          <a:prstGeom prst="rect">
            <a:avLst/>
          </a:prstGeom>
          <a:solidFill>
            <a:srgbClr val="080E1A"/>
          </a:solidFill>
          <a:ln/>
        </p:spPr>
        <p:txBody>
          <a:bodyPr/>
          <a:lstStyle/>
          <a:p>
            <a:endParaRPr lang="en-US"/>
          </a:p>
        </p:txBody>
      </p:sp>
      <p:sp>
        <p:nvSpPr>
          <p:cNvPr id="21" name="Text 16"/>
          <p:cNvSpPr/>
          <p:nvPr/>
        </p:nvSpPr>
        <p:spPr>
          <a:xfrm>
            <a:off x="548640" y="4910328"/>
            <a:ext cx="3657600" cy="201168"/>
          </a:xfrm>
          <a:prstGeom prst="rect">
            <a:avLst/>
          </a:prstGeom>
          <a:noFill/>
          <a:ln/>
        </p:spPr>
        <p:txBody>
          <a:bodyPr wrap="square" lIns="0" tIns="0" rIns="0" bIns="0" rtlCol="0" anchor="ctr"/>
          <a:lstStyle/>
          <a:p>
            <a:pPr marL="0" indent="0">
              <a:buNone/>
            </a:pPr>
            <a:r>
              <a:rPr lang="en-US" sz="700" kern="0" spc="200" dirty="0">
                <a:solidFill>
                  <a:srgbClr val="64748B"/>
                </a:solidFill>
                <a:latin typeface="Calibri" pitchFamily="34" charset="0"/>
                <a:ea typeface="Calibri" pitchFamily="34" charset="-122"/>
                <a:cs typeface="Calibri" pitchFamily="34" charset="-120"/>
              </a:rPr>
              <a:t>FYM FINANCIAL  |  CONFIDENTIAL</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3B82F6"/>
          </a:solidFill>
          <a:ln/>
        </p:spPr>
        <p:txBody>
          <a:bodyPr/>
          <a:lstStyle/>
          <a:p>
            <a:endParaRPr lang="en-US"/>
          </a:p>
        </p:txBody>
      </p:sp>
      <p:sp>
        <p:nvSpPr>
          <p:cNvPr id="3" name="Text 1"/>
          <p:cNvSpPr/>
          <p:nvPr/>
        </p:nvSpPr>
        <p:spPr>
          <a:xfrm>
            <a:off x="548640" y="228600"/>
            <a:ext cx="5486400" cy="457200"/>
          </a:xfrm>
          <a:prstGeom prst="rect">
            <a:avLst/>
          </a:prstGeom>
          <a:noFill/>
          <a:ln/>
        </p:spPr>
        <p:txBody>
          <a:bodyPr wrap="square" lIns="0" tIns="0" rIns="0" bIns="0" rtlCol="0" anchor="ctr"/>
          <a:lstStyle/>
          <a:p>
            <a:pPr marL="0" indent="0">
              <a:buNone/>
            </a:pPr>
            <a:r>
              <a:rPr lang="en-US" sz="1100" b="1" kern="0" spc="400" dirty="0">
                <a:solidFill>
                  <a:srgbClr val="3B82F6"/>
                </a:solidFill>
                <a:latin typeface="Calibri" pitchFamily="34" charset="0"/>
                <a:ea typeface="Calibri" pitchFamily="34" charset="-122"/>
                <a:cs typeface="Calibri" pitchFamily="34" charset="-120"/>
              </a:rPr>
              <a:t>GETTING STARTED</a:t>
            </a:r>
            <a:endParaRPr lang="en-US" sz="1100" dirty="0"/>
          </a:p>
        </p:txBody>
      </p:sp>
      <p:sp>
        <p:nvSpPr>
          <p:cNvPr id="4" name="Text 2"/>
          <p:cNvSpPr/>
          <p:nvPr/>
        </p:nvSpPr>
        <p:spPr>
          <a:xfrm>
            <a:off x="548640" y="594360"/>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Partnership to Production in Weeks</a:t>
            </a:r>
            <a:endParaRPr lang="en-US" sz="3000" dirty="0"/>
          </a:p>
        </p:txBody>
      </p:sp>
      <p:sp>
        <p:nvSpPr>
          <p:cNvPr id="5" name="Shape 3"/>
          <p:cNvSpPr/>
          <p:nvPr/>
        </p:nvSpPr>
        <p:spPr>
          <a:xfrm>
            <a:off x="548640" y="1325880"/>
            <a:ext cx="8046720" cy="68580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6" name="Shape 4"/>
          <p:cNvSpPr/>
          <p:nvPr/>
        </p:nvSpPr>
        <p:spPr>
          <a:xfrm>
            <a:off x="548640" y="1325880"/>
            <a:ext cx="54864" cy="685800"/>
          </a:xfrm>
          <a:prstGeom prst="rect">
            <a:avLst/>
          </a:prstGeom>
          <a:solidFill>
            <a:srgbClr val="3B82F6"/>
          </a:solidFill>
          <a:ln/>
        </p:spPr>
        <p:txBody>
          <a:bodyPr/>
          <a:lstStyle/>
          <a:p>
            <a:endParaRPr lang="en-US"/>
          </a:p>
        </p:txBody>
      </p:sp>
      <p:sp>
        <p:nvSpPr>
          <p:cNvPr id="7" name="Text 5"/>
          <p:cNvSpPr/>
          <p:nvPr/>
        </p:nvSpPr>
        <p:spPr>
          <a:xfrm>
            <a:off x="777240" y="1371600"/>
            <a:ext cx="594360" cy="594360"/>
          </a:xfrm>
          <a:prstGeom prst="rect">
            <a:avLst/>
          </a:prstGeom>
          <a:noFill/>
          <a:ln/>
        </p:spPr>
        <p:txBody>
          <a:bodyPr wrap="square" lIns="0" tIns="0" rIns="0" bIns="0" rtlCol="0" anchor="ctr"/>
          <a:lstStyle/>
          <a:p>
            <a:pPr marL="0" indent="0">
              <a:buNone/>
            </a:pPr>
            <a:r>
              <a:rPr lang="en-US" sz="2800" b="1" dirty="0">
                <a:solidFill>
                  <a:srgbClr val="3B82F6"/>
                </a:solidFill>
                <a:latin typeface="Trebuchet MS" pitchFamily="34" charset="0"/>
                <a:ea typeface="Trebuchet MS" pitchFamily="34" charset="-122"/>
                <a:cs typeface="Trebuchet MS" pitchFamily="34" charset="-120"/>
              </a:rPr>
              <a:t>01</a:t>
            </a:r>
            <a:endParaRPr lang="en-US" sz="2800" dirty="0"/>
          </a:p>
        </p:txBody>
      </p:sp>
      <p:sp>
        <p:nvSpPr>
          <p:cNvPr id="8" name="Text 6"/>
          <p:cNvSpPr/>
          <p:nvPr/>
        </p:nvSpPr>
        <p:spPr>
          <a:xfrm>
            <a:off x="1463040" y="1399032"/>
            <a:ext cx="1188720" cy="201168"/>
          </a:xfrm>
          <a:prstGeom prst="rect">
            <a:avLst/>
          </a:prstGeom>
          <a:noFill/>
          <a:ln/>
        </p:spPr>
        <p:txBody>
          <a:bodyPr wrap="square" lIns="0" tIns="0" rIns="0" bIns="0" rtlCol="0" anchor="ctr"/>
          <a:lstStyle/>
          <a:p>
            <a:pPr marL="0" indent="0">
              <a:buNone/>
            </a:pPr>
            <a:r>
              <a:rPr lang="en-US" sz="900" b="1" kern="0" spc="200" dirty="0">
                <a:solidFill>
                  <a:srgbClr val="3B82F6"/>
                </a:solidFill>
                <a:latin typeface="Calibri" pitchFamily="34" charset="0"/>
                <a:ea typeface="Calibri" pitchFamily="34" charset="-122"/>
                <a:cs typeface="Calibri" pitchFamily="34" charset="-120"/>
              </a:rPr>
              <a:t>WEEK 1</a:t>
            </a:r>
            <a:endParaRPr lang="en-US" sz="900" dirty="0"/>
          </a:p>
        </p:txBody>
      </p:sp>
      <p:sp>
        <p:nvSpPr>
          <p:cNvPr id="9" name="Text 7"/>
          <p:cNvSpPr/>
          <p:nvPr/>
        </p:nvSpPr>
        <p:spPr>
          <a:xfrm>
            <a:off x="1463040" y="1618488"/>
            <a:ext cx="20116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Contract &amp; Onboard</a:t>
            </a:r>
            <a:endParaRPr lang="en-US" sz="1400" dirty="0"/>
          </a:p>
        </p:txBody>
      </p:sp>
      <p:sp>
        <p:nvSpPr>
          <p:cNvPr id="10" name="Text 8"/>
          <p:cNvSpPr/>
          <p:nvPr/>
        </p:nvSpPr>
        <p:spPr>
          <a:xfrm>
            <a:off x="3657600" y="1417320"/>
            <a:ext cx="4754880" cy="50292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Sign with FYM. Receive top-tier contract level and carrier appointments. Your agency gets paid directly by the carrier.</a:t>
            </a:r>
            <a:endParaRPr lang="en-US" sz="1050" dirty="0"/>
          </a:p>
        </p:txBody>
      </p:sp>
      <p:sp>
        <p:nvSpPr>
          <p:cNvPr id="11" name="Shape 9"/>
          <p:cNvSpPr/>
          <p:nvPr/>
        </p:nvSpPr>
        <p:spPr>
          <a:xfrm>
            <a:off x="548640" y="2194560"/>
            <a:ext cx="8046720" cy="68580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12" name="Shape 10"/>
          <p:cNvSpPr/>
          <p:nvPr/>
        </p:nvSpPr>
        <p:spPr>
          <a:xfrm>
            <a:off x="548640" y="2194560"/>
            <a:ext cx="54864" cy="685800"/>
          </a:xfrm>
          <a:prstGeom prst="rect">
            <a:avLst/>
          </a:prstGeom>
          <a:solidFill>
            <a:srgbClr val="14B8A6"/>
          </a:solidFill>
          <a:ln/>
        </p:spPr>
        <p:txBody>
          <a:bodyPr/>
          <a:lstStyle/>
          <a:p>
            <a:endParaRPr lang="en-US"/>
          </a:p>
        </p:txBody>
      </p:sp>
      <p:sp>
        <p:nvSpPr>
          <p:cNvPr id="13" name="Text 11"/>
          <p:cNvSpPr/>
          <p:nvPr/>
        </p:nvSpPr>
        <p:spPr>
          <a:xfrm>
            <a:off x="777240" y="2240280"/>
            <a:ext cx="594360" cy="594360"/>
          </a:xfrm>
          <a:prstGeom prst="rect">
            <a:avLst/>
          </a:prstGeom>
          <a:noFill/>
          <a:ln/>
        </p:spPr>
        <p:txBody>
          <a:bodyPr wrap="square" lIns="0" tIns="0" rIns="0" bIns="0" rtlCol="0" anchor="ctr"/>
          <a:lstStyle/>
          <a:p>
            <a:pPr marL="0" indent="0">
              <a:buNone/>
            </a:pPr>
            <a:r>
              <a:rPr lang="en-US" sz="2800" b="1" dirty="0">
                <a:solidFill>
                  <a:srgbClr val="14B8A6"/>
                </a:solidFill>
                <a:latin typeface="Trebuchet MS" pitchFamily="34" charset="0"/>
                <a:ea typeface="Trebuchet MS" pitchFamily="34" charset="-122"/>
                <a:cs typeface="Trebuchet MS" pitchFamily="34" charset="-120"/>
              </a:rPr>
              <a:t>02</a:t>
            </a:r>
            <a:endParaRPr lang="en-US" sz="2800" dirty="0"/>
          </a:p>
        </p:txBody>
      </p:sp>
      <p:sp>
        <p:nvSpPr>
          <p:cNvPr id="14" name="Text 12"/>
          <p:cNvSpPr/>
          <p:nvPr/>
        </p:nvSpPr>
        <p:spPr>
          <a:xfrm>
            <a:off x="1463040" y="2267712"/>
            <a:ext cx="1188720" cy="201168"/>
          </a:xfrm>
          <a:prstGeom prst="rect">
            <a:avLst/>
          </a:prstGeom>
          <a:noFill/>
          <a:ln/>
        </p:spPr>
        <p:txBody>
          <a:bodyPr wrap="square" lIns="0" tIns="0" rIns="0" bIns="0" rtlCol="0" anchor="ctr"/>
          <a:lstStyle/>
          <a:p>
            <a:pPr marL="0" indent="0">
              <a:buNone/>
            </a:pPr>
            <a:r>
              <a:rPr lang="en-US" sz="900" b="1" kern="0" spc="200" dirty="0">
                <a:solidFill>
                  <a:srgbClr val="14B8A6"/>
                </a:solidFill>
                <a:latin typeface="Calibri" pitchFamily="34" charset="0"/>
                <a:ea typeface="Calibri" pitchFamily="34" charset="-122"/>
                <a:cs typeface="Calibri" pitchFamily="34" charset="-120"/>
              </a:rPr>
              <a:t>WEEK 2</a:t>
            </a:r>
            <a:endParaRPr lang="en-US" sz="900" dirty="0"/>
          </a:p>
        </p:txBody>
      </p:sp>
      <p:sp>
        <p:nvSpPr>
          <p:cNvPr id="15" name="Text 13"/>
          <p:cNvSpPr/>
          <p:nvPr/>
        </p:nvSpPr>
        <p:spPr>
          <a:xfrm>
            <a:off x="1463040" y="2487168"/>
            <a:ext cx="20116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Equip Your Team</a:t>
            </a:r>
            <a:endParaRPr lang="en-US" sz="1400" dirty="0"/>
          </a:p>
        </p:txBody>
      </p:sp>
      <p:sp>
        <p:nvSpPr>
          <p:cNvPr id="16" name="Text 14"/>
          <p:cNvSpPr/>
          <p:nvPr/>
        </p:nvSpPr>
        <p:spPr>
          <a:xfrm>
            <a:off x="3657600" y="2286000"/>
            <a:ext cx="4754880" cy="50292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Distribute Agent Activation Kits. Run a 30–45 minute kickoff training. Agents get scripts, quote tools, and compliance guardrails.</a:t>
            </a:r>
            <a:endParaRPr lang="en-US" sz="1050" dirty="0"/>
          </a:p>
        </p:txBody>
      </p:sp>
      <p:sp>
        <p:nvSpPr>
          <p:cNvPr id="17" name="Shape 15"/>
          <p:cNvSpPr/>
          <p:nvPr/>
        </p:nvSpPr>
        <p:spPr>
          <a:xfrm>
            <a:off x="548640" y="3063240"/>
            <a:ext cx="8046720" cy="68580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18" name="Shape 16"/>
          <p:cNvSpPr/>
          <p:nvPr/>
        </p:nvSpPr>
        <p:spPr>
          <a:xfrm>
            <a:off x="548640" y="3063240"/>
            <a:ext cx="54864" cy="685800"/>
          </a:xfrm>
          <a:prstGeom prst="rect">
            <a:avLst/>
          </a:prstGeom>
          <a:solidFill>
            <a:srgbClr val="D4A843"/>
          </a:solidFill>
          <a:ln/>
        </p:spPr>
        <p:txBody>
          <a:bodyPr/>
          <a:lstStyle/>
          <a:p>
            <a:endParaRPr lang="en-US"/>
          </a:p>
        </p:txBody>
      </p:sp>
      <p:sp>
        <p:nvSpPr>
          <p:cNvPr id="19" name="Text 17"/>
          <p:cNvSpPr/>
          <p:nvPr/>
        </p:nvSpPr>
        <p:spPr>
          <a:xfrm>
            <a:off x="777240" y="3108960"/>
            <a:ext cx="594360" cy="594360"/>
          </a:xfrm>
          <a:prstGeom prst="rect">
            <a:avLst/>
          </a:prstGeom>
          <a:noFill/>
          <a:ln/>
        </p:spPr>
        <p:txBody>
          <a:bodyPr wrap="square" lIns="0" tIns="0" rIns="0" bIns="0" rtlCol="0" anchor="ctr"/>
          <a:lstStyle/>
          <a:p>
            <a:pPr marL="0" indent="0">
              <a:buNone/>
            </a:pPr>
            <a:r>
              <a:rPr lang="en-US" sz="2800" b="1" dirty="0">
                <a:solidFill>
                  <a:srgbClr val="D4A843"/>
                </a:solidFill>
                <a:latin typeface="Trebuchet MS" pitchFamily="34" charset="0"/>
                <a:ea typeface="Trebuchet MS" pitchFamily="34" charset="-122"/>
                <a:cs typeface="Trebuchet MS" pitchFamily="34" charset="-120"/>
              </a:rPr>
              <a:t>03</a:t>
            </a:r>
            <a:endParaRPr lang="en-US" sz="2800" dirty="0"/>
          </a:p>
        </p:txBody>
      </p:sp>
      <p:sp>
        <p:nvSpPr>
          <p:cNvPr id="20" name="Text 18"/>
          <p:cNvSpPr/>
          <p:nvPr/>
        </p:nvSpPr>
        <p:spPr>
          <a:xfrm>
            <a:off x="1463040" y="3136392"/>
            <a:ext cx="1188720" cy="201168"/>
          </a:xfrm>
          <a:prstGeom prst="rect">
            <a:avLst/>
          </a:prstGeom>
          <a:noFill/>
          <a:ln/>
        </p:spPr>
        <p:txBody>
          <a:bodyPr wrap="square" lIns="0" tIns="0" rIns="0" bIns="0" rtlCol="0" anchor="ctr"/>
          <a:lstStyle/>
          <a:p>
            <a:pPr marL="0" indent="0">
              <a:buNone/>
            </a:pPr>
            <a:r>
              <a:rPr lang="en-US" sz="900" b="1" kern="0" spc="200" dirty="0">
                <a:solidFill>
                  <a:srgbClr val="D4A843"/>
                </a:solidFill>
                <a:latin typeface="Calibri" pitchFamily="34" charset="0"/>
                <a:ea typeface="Calibri" pitchFamily="34" charset="-122"/>
                <a:cs typeface="Calibri" pitchFamily="34" charset="-120"/>
              </a:rPr>
              <a:t>WEEKS 3–6</a:t>
            </a:r>
            <a:endParaRPr lang="en-US" sz="900" dirty="0"/>
          </a:p>
        </p:txBody>
      </p:sp>
      <p:sp>
        <p:nvSpPr>
          <p:cNvPr id="21" name="Text 19"/>
          <p:cNvSpPr/>
          <p:nvPr/>
        </p:nvSpPr>
        <p:spPr>
          <a:xfrm>
            <a:off x="1463040" y="3355848"/>
            <a:ext cx="20116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Start Cross-Selling</a:t>
            </a:r>
            <a:endParaRPr lang="en-US" sz="1400" dirty="0"/>
          </a:p>
        </p:txBody>
      </p:sp>
      <p:sp>
        <p:nvSpPr>
          <p:cNvPr id="22" name="Text 20"/>
          <p:cNvSpPr/>
          <p:nvPr/>
        </p:nvSpPr>
        <p:spPr>
          <a:xfrm>
            <a:off x="3657600" y="3154680"/>
            <a:ext cx="4754880" cy="50292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Agents begin offering protection products after Medicare enrollments. Low stakes, high reps. Build the muscle memory.</a:t>
            </a:r>
            <a:endParaRPr lang="en-US" sz="1050" dirty="0"/>
          </a:p>
        </p:txBody>
      </p:sp>
      <p:sp>
        <p:nvSpPr>
          <p:cNvPr id="23" name="Shape 21"/>
          <p:cNvSpPr/>
          <p:nvPr/>
        </p:nvSpPr>
        <p:spPr>
          <a:xfrm>
            <a:off x="548640" y="3931920"/>
            <a:ext cx="8046720" cy="685800"/>
          </a:xfrm>
          <a:prstGeom prst="rect">
            <a:avLst/>
          </a:prstGeom>
          <a:solidFill>
            <a:srgbClr val="131D33"/>
          </a:solidFill>
          <a:ln/>
          <a:effectLst>
            <a:outerShdw blurRad="101600" dist="38100" dir="8100000" algn="bl" rotWithShape="0">
              <a:srgbClr val="000000">
                <a:alpha val="35000"/>
              </a:srgbClr>
            </a:outerShdw>
          </a:effectLst>
        </p:spPr>
        <p:txBody>
          <a:bodyPr/>
          <a:lstStyle/>
          <a:p>
            <a:endParaRPr lang="en-US"/>
          </a:p>
        </p:txBody>
      </p:sp>
      <p:sp>
        <p:nvSpPr>
          <p:cNvPr id="24" name="Shape 22"/>
          <p:cNvSpPr/>
          <p:nvPr/>
        </p:nvSpPr>
        <p:spPr>
          <a:xfrm>
            <a:off x="548640" y="3931920"/>
            <a:ext cx="54864" cy="685800"/>
          </a:xfrm>
          <a:prstGeom prst="rect">
            <a:avLst/>
          </a:prstGeom>
          <a:solidFill>
            <a:srgbClr val="3B82F6"/>
          </a:solidFill>
          <a:ln/>
        </p:spPr>
        <p:txBody>
          <a:bodyPr/>
          <a:lstStyle/>
          <a:p>
            <a:endParaRPr lang="en-US"/>
          </a:p>
        </p:txBody>
      </p:sp>
      <p:sp>
        <p:nvSpPr>
          <p:cNvPr id="25" name="Text 23"/>
          <p:cNvSpPr/>
          <p:nvPr/>
        </p:nvSpPr>
        <p:spPr>
          <a:xfrm>
            <a:off x="777240" y="3977640"/>
            <a:ext cx="594360" cy="594360"/>
          </a:xfrm>
          <a:prstGeom prst="rect">
            <a:avLst/>
          </a:prstGeom>
          <a:noFill/>
          <a:ln/>
        </p:spPr>
        <p:txBody>
          <a:bodyPr wrap="square" lIns="0" tIns="0" rIns="0" bIns="0" rtlCol="0" anchor="ctr"/>
          <a:lstStyle/>
          <a:p>
            <a:pPr marL="0" indent="0">
              <a:buNone/>
            </a:pPr>
            <a:r>
              <a:rPr lang="en-US" sz="2800" b="1" dirty="0">
                <a:solidFill>
                  <a:srgbClr val="3B82F6"/>
                </a:solidFill>
                <a:latin typeface="Trebuchet MS" pitchFamily="34" charset="0"/>
                <a:ea typeface="Trebuchet MS" pitchFamily="34" charset="-122"/>
                <a:cs typeface="Trebuchet MS" pitchFamily="34" charset="-120"/>
              </a:rPr>
              <a:t>04</a:t>
            </a:r>
            <a:endParaRPr lang="en-US" sz="2800" dirty="0"/>
          </a:p>
        </p:txBody>
      </p:sp>
      <p:sp>
        <p:nvSpPr>
          <p:cNvPr id="26" name="Text 24"/>
          <p:cNvSpPr/>
          <p:nvPr/>
        </p:nvSpPr>
        <p:spPr>
          <a:xfrm>
            <a:off x="1463040" y="4005072"/>
            <a:ext cx="1188720" cy="201168"/>
          </a:xfrm>
          <a:prstGeom prst="rect">
            <a:avLst/>
          </a:prstGeom>
          <a:noFill/>
          <a:ln/>
        </p:spPr>
        <p:txBody>
          <a:bodyPr wrap="square" lIns="0" tIns="0" rIns="0" bIns="0" rtlCol="0" anchor="ctr"/>
          <a:lstStyle/>
          <a:p>
            <a:pPr marL="0" indent="0">
              <a:buNone/>
            </a:pPr>
            <a:r>
              <a:rPr lang="en-US" sz="900" b="1" kern="0" spc="200" dirty="0">
                <a:solidFill>
                  <a:srgbClr val="3B82F6"/>
                </a:solidFill>
                <a:latin typeface="Calibri" pitchFamily="34" charset="0"/>
                <a:ea typeface="Calibri" pitchFamily="34" charset="-122"/>
                <a:cs typeface="Calibri" pitchFamily="34" charset="-120"/>
              </a:rPr>
              <a:t>APRIL 1</a:t>
            </a:r>
            <a:endParaRPr lang="en-US" sz="900" dirty="0"/>
          </a:p>
        </p:txBody>
      </p:sp>
      <p:sp>
        <p:nvSpPr>
          <p:cNvPr id="27" name="Text 25"/>
          <p:cNvSpPr/>
          <p:nvPr/>
        </p:nvSpPr>
        <p:spPr>
          <a:xfrm>
            <a:off x="1463040" y="4224528"/>
            <a:ext cx="20116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Launch Lead Mode</a:t>
            </a:r>
            <a:endParaRPr lang="en-US" sz="1400" dirty="0"/>
          </a:p>
        </p:txBody>
      </p:sp>
      <p:sp>
        <p:nvSpPr>
          <p:cNvPr id="28" name="Text 26"/>
          <p:cNvSpPr/>
          <p:nvPr/>
        </p:nvSpPr>
        <p:spPr>
          <a:xfrm>
            <a:off x="3657600" y="4023360"/>
            <a:ext cx="4754880" cy="50292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Same agents, same skills, new lead product. Protection is the conversation. Cash flow positive from day one.</a:t>
            </a:r>
            <a:endParaRPr lang="en-US" sz="1050" dirty="0"/>
          </a:p>
        </p:txBody>
      </p:sp>
      <p:sp>
        <p:nvSpPr>
          <p:cNvPr id="29" name="Shape 27"/>
          <p:cNvSpPr/>
          <p:nvPr/>
        </p:nvSpPr>
        <p:spPr>
          <a:xfrm>
            <a:off x="0" y="4892040"/>
            <a:ext cx="9144000" cy="256032"/>
          </a:xfrm>
          <a:prstGeom prst="rect">
            <a:avLst/>
          </a:prstGeom>
          <a:solidFill>
            <a:srgbClr val="080E1A"/>
          </a:solidFill>
          <a:ln/>
        </p:spPr>
        <p:txBody>
          <a:bodyPr/>
          <a:lstStyle/>
          <a:p>
            <a:endParaRPr lang="en-US"/>
          </a:p>
        </p:txBody>
      </p:sp>
      <p:sp>
        <p:nvSpPr>
          <p:cNvPr id="30" name="Text 28"/>
          <p:cNvSpPr/>
          <p:nvPr/>
        </p:nvSpPr>
        <p:spPr>
          <a:xfrm>
            <a:off x="548640" y="4910328"/>
            <a:ext cx="3657600" cy="201168"/>
          </a:xfrm>
          <a:prstGeom prst="rect">
            <a:avLst/>
          </a:prstGeom>
          <a:noFill/>
          <a:ln/>
        </p:spPr>
        <p:txBody>
          <a:bodyPr wrap="square" lIns="0" tIns="0" rIns="0" bIns="0" rtlCol="0" anchor="ctr"/>
          <a:lstStyle/>
          <a:p>
            <a:pPr marL="0" indent="0">
              <a:buNone/>
            </a:pPr>
            <a:r>
              <a:rPr lang="en-US" sz="700" kern="0" spc="200" dirty="0">
                <a:solidFill>
                  <a:srgbClr val="64748B"/>
                </a:solidFill>
                <a:latin typeface="Calibri" pitchFamily="34" charset="0"/>
                <a:ea typeface="Calibri" pitchFamily="34" charset="-122"/>
                <a:cs typeface="Calibri" pitchFamily="34" charset="-120"/>
              </a:rPr>
              <a:t>FYM FINANCIAL  |  CONFIDENTIAL</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3"/>
          </a:solidFill>
          <a:ln/>
        </p:spPr>
        <p:txBody>
          <a:bodyPr/>
          <a:lstStyle/>
          <a:p>
            <a:endParaRPr lang="en-US"/>
          </a:p>
        </p:txBody>
      </p:sp>
      <p:sp>
        <p:nvSpPr>
          <p:cNvPr id="3" name="Shape 1"/>
          <p:cNvSpPr/>
          <p:nvPr/>
        </p:nvSpPr>
        <p:spPr>
          <a:xfrm>
            <a:off x="548640" y="1188720"/>
            <a:ext cx="54864" cy="2286000"/>
          </a:xfrm>
          <a:prstGeom prst="rect">
            <a:avLst/>
          </a:prstGeom>
          <a:solidFill>
            <a:srgbClr val="D4A843"/>
          </a:solidFill>
          <a:ln/>
        </p:spPr>
        <p:txBody>
          <a:bodyPr/>
          <a:lstStyle/>
          <a:p>
            <a:endParaRPr lang="en-US"/>
          </a:p>
        </p:txBody>
      </p:sp>
      <p:sp>
        <p:nvSpPr>
          <p:cNvPr id="4" name="Text 2"/>
          <p:cNvSpPr/>
          <p:nvPr/>
        </p:nvSpPr>
        <p:spPr>
          <a:xfrm>
            <a:off x="822960" y="1097280"/>
            <a:ext cx="7315200" cy="914400"/>
          </a:xfrm>
          <a:prstGeom prst="rect">
            <a:avLst/>
          </a:prstGeom>
          <a:noFill/>
          <a:ln/>
        </p:spPr>
        <p:txBody>
          <a:bodyPr wrap="square" lIns="0" tIns="0" rIns="0" bIns="0" rtlCol="0" anchor="ctr"/>
          <a:lstStyle/>
          <a:p>
            <a:pPr marL="0" indent="0">
              <a:buNone/>
            </a:pPr>
            <a:r>
              <a:rPr lang="en-US" sz="5600" b="1" kern="0" spc="800" dirty="0">
                <a:solidFill>
                  <a:srgbClr val="FFFFFF"/>
                </a:solidFill>
                <a:latin typeface="Trebuchet MS" pitchFamily="34" charset="0"/>
                <a:ea typeface="Trebuchet MS" pitchFamily="34" charset="-122"/>
                <a:cs typeface="Trebuchet MS" pitchFamily="34" charset="-120"/>
              </a:rPr>
              <a:t>FYM</a:t>
            </a:r>
            <a:endParaRPr lang="en-US" sz="5600" dirty="0"/>
          </a:p>
        </p:txBody>
      </p:sp>
      <p:sp>
        <p:nvSpPr>
          <p:cNvPr id="5" name="Text 3"/>
          <p:cNvSpPr/>
          <p:nvPr/>
        </p:nvSpPr>
        <p:spPr>
          <a:xfrm>
            <a:off x="822960" y="1737360"/>
            <a:ext cx="7315200" cy="640080"/>
          </a:xfrm>
          <a:prstGeom prst="rect">
            <a:avLst/>
          </a:prstGeom>
          <a:noFill/>
          <a:ln/>
        </p:spPr>
        <p:txBody>
          <a:bodyPr wrap="square" lIns="0" tIns="0" rIns="0" bIns="0" rtlCol="0" anchor="ctr"/>
          <a:lstStyle/>
          <a:p>
            <a:pPr marL="0" indent="0">
              <a:buNone/>
            </a:pPr>
            <a:r>
              <a:rPr lang="en-US" sz="3000" b="1" kern="0" spc="1200" dirty="0">
                <a:solidFill>
                  <a:srgbClr val="D4A843"/>
                </a:solidFill>
                <a:latin typeface="Trebuchet MS" pitchFamily="34" charset="0"/>
                <a:ea typeface="Trebuchet MS" pitchFamily="34" charset="-122"/>
                <a:cs typeface="Trebuchet MS" pitchFamily="34" charset="-120"/>
              </a:rPr>
              <a:t>FINANCIAL</a:t>
            </a:r>
            <a:endParaRPr lang="en-US" sz="3000" dirty="0"/>
          </a:p>
        </p:txBody>
      </p:sp>
      <p:sp>
        <p:nvSpPr>
          <p:cNvPr id="6" name="Text 4"/>
          <p:cNvSpPr/>
          <p:nvPr/>
        </p:nvSpPr>
        <p:spPr>
          <a:xfrm>
            <a:off x="822960" y="2560320"/>
            <a:ext cx="7315200" cy="640080"/>
          </a:xfrm>
          <a:prstGeom prst="rect">
            <a:avLst/>
          </a:prstGeom>
          <a:noFill/>
          <a:ln/>
        </p:spPr>
        <p:txBody>
          <a:bodyPr wrap="square" lIns="0" tIns="0" rIns="0" bIns="0" rtlCol="0" anchor="ctr"/>
          <a:lstStyle/>
          <a:p>
            <a:pPr marL="0" indent="0">
              <a:buNone/>
            </a:pPr>
            <a:r>
              <a:rPr lang="en-US" sz="1500" dirty="0">
                <a:solidFill>
                  <a:srgbClr val="E2E8F0"/>
                </a:solidFill>
                <a:latin typeface="Calibri" pitchFamily="34" charset="0"/>
                <a:ea typeface="Calibri" pitchFamily="34" charset="-122"/>
                <a:cs typeface="Calibri" pitchFamily="34" charset="-120"/>
              </a:rPr>
              <a:t>Better contracts. Longer advances. Year-round revenue.</a:t>
            </a:r>
            <a:endParaRPr lang="en-US" sz="1500" dirty="0"/>
          </a:p>
          <a:p>
            <a:pPr marL="0" indent="0">
              <a:buNone/>
            </a:pPr>
            <a:r>
              <a:rPr lang="en-US" sz="1500" dirty="0">
                <a:solidFill>
                  <a:srgbClr val="E2E8F0"/>
                </a:solidFill>
                <a:latin typeface="Calibri" pitchFamily="34" charset="0"/>
                <a:ea typeface="Calibri" pitchFamily="34" charset="-122"/>
                <a:cs typeface="Calibri" pitchFamily="34" charset="-120"/>
              </a:rPr>
              <a:t>Clean compliance. Exit optionality.</a:t>
            </a:r>
            <a:endParaRPr lang="en-US" sz="1500" dirty="0"/>
          </a:p>
        </p:txBody>
      </p:sp>
      <p:sp>
        <p:nvSpPr>
          <p:cNvPr id="7" name="Text 5"/>
          <p:cNvSpPr/>
          <p:nvPr/>
        </p:nvSpPr>
        <p:spPr>
          <a:xfrm>
            <a:off x="822960" y="3291840"/>
            <a:ext cx="7315200" cy="3657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The #1 Specialized Protection-Product FMO</a:t>
            </a:r>
            <a:endParaRPr lang="en-US" sz="1200" dirty="0"/>
          </a:p>
        </p:txBody>
      </p:sp>
      <p:sp>
        <p:nvSpPr>
          <p:cNvPr id="8" name="Text 6"/>
          <p:cNvSpPr/>
          <p:nvPr/>
        </p:nvSpPr>
        <p:spPr>
          <a:xfrm>
            <a:off x="822960" y="3840480"/>
            <a:ext cx="7315200" cy="457200"/>
          </a:xfrm>
          <a:prstGeom prst="rect">
            <a:avLst/>
          </a:prstGeom>
          <a:noFill/>
          <a:ln/>
        </p:spPr>
        <p:txBody>
          <a:bodyPr wrap="square" lIns="0" tIns="0" rIns="0" bIns="0" rtlCol="0" anchor="ctr"/>
          <a:lstStyle/>
          <a:p>
            <a:pPr marL="0" indent="0">
              <a:buNone/>
            </a:pPr>
            <a:r>
              <a:rPr lang="en-US" sz="2200" b="1" dirty="0">
                <a:solidFill>
                  <a:srgbClr val="D4A843"/>
                </a:solidFill>
                <a:latin typeface="Trebuchet MS" pitchFamily="34" charset="0"/>
                <a:ea typeface="Trebuchet MS" pitchFamily="34" charset="-122"/>
                <a:cs typeface="Trebuchet MS" pitchFamily="34" charset="-120"/>
              </a:rPr>
              <a:t>Let’s talk.</a:t>
            </a:r>
            <a:endParaRPr lang="en-US" sz="2200" dirty="0"/>
          </a:p>
        </p:txBody>
      </p:sp>
      <p:sp>
        <p:nvSpPr>
          <p:cNvPr id="9" name="Shape 7"/>
          <p:cNvSpPr/>
          <p:nvPr/>
        </p:nvSpPr>
        <p:spPr>
          <a:xfrm>
            <a:off x="0" y="4892040"/>
            <a:ext cx="9144000" cy="256032"/>
          </a:xfrm>
          <a:prstGeom prst="rect">
            <a:avLst/>
          </a:prstGeom>
          <a:solidFill>
            <a:srgbClr val="080E1A"/>
          </a:solidFill>
          <a:ln/>
        </p:spPr>
        <p:txBody>
          <a:bodyPr/>
          <a:lstStyle/>
          <a:p>
            <a:endParaRPr lang="en-US"/>
          </a:p>
        </p:txBody>
      </p:sp>
      <p:sp>
        <p:nvSpPr>
          <p:cNvPr id="10" name="Text 8"/>
          <p:cNvSpPr/>
          <p:nvPr/>
        </p:nvSpPr>
        <p:spPr>
          <a:xfrm>
            <a:off x="548640" y="4910328"/>
            <a:ext cx="3657600" cy="201168"/>
          </a:xfrm>
          <a:prstGeom prst="rect">
            <a:avLst/>
          </a:prstGeom>
          <a:noFill/>
          <a:ln/>
        </p:spPr>
        <p:txBody>
          <a:bodyPr wrap="square" lIns="0" tIns="0" rIns="0" bIns="0" rtlCol="0" anchor="ctr"/>
          <a:lstStyle/>
          <a:p>
            <a:pPr marL="0" indent="0">
              <a:buNone/>
            </a:pPr>
            <a:r>
              <a:rPr lang="en-US" sz="700" kern="0" spc="200" dirty="0">
                <a:solidFill>
                  <a:srgbClr val="64748B"/>
                </a:solidFill>
                <a:latin typeface="Calibri" pitchFamily="34" charset="0"/>
                <a:ea typeface="Calibri" pitchFamily="34" charset="-122"/>
                <a:cs typeface="Calibri" pitchFamily="34" charset="-120"/>
              </a:rPr>
              <a:t>FYM FINANCIAL  |  CONFIDENTIAL</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987</Words>
  <Application>Microsoft Macintosh PowerPoint</Application>
  <PresentationFormat>On-screen Show (16:9)</PresentationFormat>
  <Paragraphs>149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FYM Financial - Agency Partnership Overview</dc:title>
  <dc:subject>PptxGenJS Presentation</dc:subject>
  <dc:creator>FYM Financial</dc:creator>
  <cp:lastModifiedBy>Melanie Watterberg</cp:lastModifiedBy>
  <cp:revision>2</cp:revision>
  <dcterms:created xsi:type="dcterms:W3CDTF">2026-02-26T03:01:18Z</dcterms:created>
  <dcterms:modified xsi:type="dcterms:W3CDTF">2026-05-04T16:28:44Z</dcterms:modified>
</cp:coreProperties>
</file>